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54" r:id="rId1"/>
  </p:sldMasterIdLst>
  <p:notesMasterIdLst>
    <p:notesMasterId r:id="rId24"/>
  </p:notesMasterIdLst>
  <p:sldIdLst>
    <p:sldId id="256" r:id="rId2"/>
    <p:sldId id="257" r:id="rId3"/>
    <p:sldId id="258" r:id="rId4"/>
    <p:sldId id="275" r:id="rId5"/>
    <p:sldId id="276" r:id="rId6"/>
    <p:sldId id="327" r:id="rId7"/>
    <p:sldId id="310" r:id="rId8"/>
    <p:sldId id="312" r:id="rId9"/>
    <p:sldId id="313" r:id="rId10"/>
    <p:sldId id="314" r:id="rId11"/>
    <p:sldId id="315" r:id="rId12"/>
    <p:sldId id="330" r:id="rId13"/>
    <p:sldId id="329" r:id="rId14"/>
    <p:sldId id="328" r:id="rId15"/>
    <p:sldId id="319" r:id="rId16"/>
    <p:sldId id="333" r:id="rId17"/>
    <p:sldId id="335" r:id="rId18"/>
    <p:sldId id="336" r:id="rId19"/>
    <p:sldId id="334" r:id="rId20"/>
    <p:sldId id="318" r:id="rId21"/>
    <p:sldId id="272" r:id="rId22"/>
    <p:sldId id="27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  <a:srgbClr val="E1E1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6BD791-184B-487B-90B6-B1E1ECD6CB2B}" type="datetimeFigureOut">
              <a:rPr lang="ru-RU" smtClean="0"/>
              <a:t>14.12.2025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D579E-385A-4295-A932-6BA6B1686B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16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3B7E-871C-4FC8-B820-300CD8F2EF29}" type="datetime1">
              <a:rPr lang="ru-RU" smtClean="0"/>
              <a:t>14.12.2025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3534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5BCE4-56EA-4C96-A8C2-263D61810A9C}" type="datetime1">
              <a:rPr lang="ru-RU" smtClean="0"/>
              <a:t>14.12.2025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3974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3C1D9-0779-4BE0-8B57-2E2DF4BF7508}" type="datetime1">
              <a:rPr lang="ru-RU" smtClean="0"/>
              <a:t>14.12.2025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462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1C367-BAD5-43CC-98EA-270B567B4A36}" type="datetime1">
              <a:rPr lang="ru-RU" smtClean="0"/>
              <a:t>14.12.2025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1963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3E0D0-BD27-46ED-9B32-A5E3387380EF}" type="datetime1">
              <a:rPr lang="ru-RU" smtClean="0"/>
              <a:t>14.12.2025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6984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EF70-D998-41FB-B952-B3C3BE6587C0}" type="datetime1">
              <a:rPr lang="ru-RU" smtClean="0"/>
              <a:t>14.12.2025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9271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71ED0-2E96-42A5-AEE1-1DE201924109}" type="datetime1">
              <a:rPr lang="ru-RU" smtClean="0"/>
              <a:t>14.12.2025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509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48AEDDA-B7F5-4902-8580-162930CE421D}" type="datetime1">
              <a:rPr lang="ru-RU" smtClean="0"/>
              <a:t>14.12.2025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C9EC098-2CBC-4E95-976E-3B85D117C1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916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CD25-C8DB-4B7A-A6A4-3D0222C47534}" type="datetime1">
              <a:rPr lang="ru-RU" smtClean="0"/>
              <a:t>14.12.2025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8596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DB24D-71F8-440E-A945-E373082D12F9}" type="datetime1">
              <a:rPr lang="ru-RU" smtClean="0"/>
              <a:t>14.12.2025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291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F05F-C251-417A-8483-E83CB69CA315}" type="datetime1">
              <a:rPr lang="ru-RU" smtClean="0"/>
              <a:t>14.12.2025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2256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AF79E36-F040-4F03-B3E7-5A6950B58B75}" type="datetime1">
              <a:rPr lang="ru-RU" smtClean="0"/>
              <a:t>14.12.2025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C9EC098-2CBC-4E95-976E-3B85D117C1E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361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5" r:id="rId1"/>
    <p:sldLayoutId id="2147484056" r:id="rId2"/>
    <p:sldLayoutId id="2147484057" r:id="rId3"/>
    <p:sldLayoutId id="2147484058" r:id="rId4"/>
    <p:sldLayoutId id="2147484059" r:id="rId5"/>
    <p:sldLayoutId id="2147484060" r:id="rId6"/>
    <p:sldLayoutId id="2147484061" r:id="rId7"/>
    <p:sldLayoutId id="2147484062" r:id="rId8"/>
    <p:sldLayoutId id="2147484063" r:id="rId9"/>
    <p:sldLayoutId id="2147484064" r:id="rId10"/>
    <p:sldLayoutId id="2147484065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9DBFAA-FA8A-4E9B-8D1B-BB8986994A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4000" dirty="0"/>
              <a:t>Курсовой проект</a:t>
            </a:r>
            <a:br>
              <a:rPr lang="ru-RU" sz="4000" dirty="0"/>
            </a:br>
            <a:r>
              <a:rPr lang="ru-RU" sz="4000" b="1" dirty="0"/>
              <a:t>Разработка мобильного приложения «Виртуальная арт-галерея»</a:t>
            </a:r>
            <a:br>
              <a:rPr lang="ru-RU" sz="4000" b="1" dirty="0"/>
            </a:br>
            <a:r>
              <a:rPr lang="ru-RU" sz="4000" b="1" dirty="0"/>
              <a:t>Модуль администрирования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22463D-10D4-4B11-804A-17E099D95C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477327"/>
          </a:xfrm>
        </p:spPr>
        <p:txBody>
          <a:bodyPr>
            <a:normAutofit fontScale="92500" lnSpcReduction="20000"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Выполнила: студентка гр. ИСТ-122</a:t>
            </a:r>
          </a:p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	</a:t>
            </a:r>
            <a:r>
              <a:rPr lang="ru-RU" dirty="0" err="1"/>
              <a:t>Жминьковская</a:t>
            </a:r>
            <a:r>
              <a:rPr lang="ru-RU" dirty="0"/>
              <a:t> М.А.</a:t>
            </a:r>
          </a:p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Приняла:	ст. преп. каф. ИСПИ</a:t>
            </a:r>
          </a:p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Данилов В.В.</a:t>
            </a:r>
          </a:p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AB176F1-4C7E-4284-8B77-B15D73A7275D}"/>
              </a:ext>
            </a:extLst>
          </p:cNvPr>
          <p:cNvSpPr/>
          <p:nvPr/>
        </p:nvSpPr>
        <p:spPr>
          <a:xfrm>
            <a:off x="0" y="0"/>
            <a:ext cx="12192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600" cap="all" spc="200" dirty="0">
                <a:solidFill>
                  <a:schemeClr val="tx2"/>
                </a:solidFill>
                <a:latin typeface="+mj-lt"/>
              </a:rPr>
              <a:t>Федеральное государственное бюджетное образовательное учреждение высшего образования </a:t>
            </a:r>
          </a:p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600" cap="all" spc="200" dirty="0">
                <a:solidFill>
                  <a:schemeClr val="tx2"/>
                </a:solidFill>
                <a:latin typeface="+mj-lt"/>
              </a:rPr>
              <a:t>«Владимирский государственный университет </a:t>
            </a:r>
          </a:p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600" cap="all" spc="200" dirty="0">
                <a:solidFill>
                  <a:schemeClr val="tx2"/>
                </a:solidFill>
                <a:latin typeface="+mj-lt"/>
              </a:rPr>
              <a:t>имени Александра Григорьевича и Николая Григорьевича Столетовых»</a:t>
            </a:r>
          </a:p>
          <a:p>
            <a:pPr algn="ctr"/>
            <a:r>
              <a:rPr lang="ru-RU" sz="1600" cap="all" spc="200" dirty="0">
                <a:solidFill>
                  <a:schemeClr val="tx2"/>
                </a:solidFill>
                <a:latin typeface="+mj-lt"/>
              </a:rPr>
              <a:t>Кафедра информационных систем и программной инженерии</a:t>
            </a:r>
            <a:endParaRPr lang="ru-RU" sz="2400" cap="all" spc="2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8123EEF-5D28-413C-B61A-9481AB84AAEF}"/>
              </a:ext>
            </a:extLst>
          </p:cNvPr>
          <p:cNvSpPr/>
          <p:nvPr/>
        </p:nvSpPr>
        <p:spPr>
          <a:xfrm>
            <a:off x="4973577" y="5908002"/>
            <a:ext cx="2244845" cy="3820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Владимир, 2025</a:t>
            </a:r>
          </a:p>
        </p:txBody>
      </p:sp>
    </p:spTree>
    <p:extLst>
      <p:ext uri="{BB962C8B-B14F-4D97-AF65-F5344CB8AC3E}">
        <p14:creationId xmlns:p14="http://schemas.microsoft.com/office/powerpoint/2010/main" val="4102665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05D1BC-A25A-4E1A-91DD-A1C15BABA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677BB0-C9F0-4DB7-ACB0-8C5D407A7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С развитием цифровых технологий и их активным внедрением в различные сферы жизни, искусство претерпевает значительные изменения. Одной из ключевых тенденций является переход к виртуальным форматам взаимодействия с произведениями искусства, что особенно актуально в условиях глобализации и развития удаленных коммуникаций. Создание виртуальных арт-галерей становится важным инструментом для популяризации искусства, расширения аудитории и предоставления пользователям доступа к культурному наследию, независимо от их географического положения.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C931FC9-C717-4263-9760-DF92D2633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808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50D4C97-0D03-477D-A4D3-B7A909B01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821CA55A-7696-4E29-ACD5-4F80A842F3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97281" y="1737360"/>
            <a:ext cx="10058400" cy="4522763"/>
          </a:xfrm>
        </p:spPr>
        <p:txBody>
          <a:bodyPr>
            <a:noAutofit/>
          </a:bodyPr>
          <a:lstStyle/>
          <a:p>
            <a:pPr marL="0" marR="180340" lv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dirty="0"/>
              <a:t>Целью данного курсового проекта является разработка мобильного приложения «Виртуальная арт-галерея», модуль «Администрирование».</a:t>
            </a:r>
          </a:p>
          <a:p>
            <a:pPr marL="0" marR="180340" lv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dirty="0"/>
              <a:t>Задачи для достижения цели:</a:t>
            </a:r>
          </a:p>
          <a:p>
            <a:pPr marL="0" marR="180340" lv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dirty="0"/>
              <a:t>1. Анализ предметной области, функциональная декомпозиция системы, требования к системе, обзор аналогов;</a:t>
            </a:r>
          </a:p>
          <a:p>
            <a:pPr marL="0" marR="180340" lv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dirty="0"/>
              <a:t>2. Проектирование мобильного приложения, разработка модели данных;</a:t>
            </a:r>
          </a:p>
          <a:p>
            <a:pPr marL="0" marR="180340" lv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dirty="0"/>
              <a:t>3. Реализация программной системы с использованием заданных технологий, разработка своего API и использование стороннего API;</a:t>
            </a:r>
          </a:p>
          <a:p>
            <a:pPr marL="0" marR="180340" lv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dirty="0"/>
              <a:t>4. Разработать сценарии тестирования приложения;</a:t>
            </a:r>
          </a:p>
          <a:p>
            <a:pPr marL="0" marR="180340" lv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dirty="0"/>
              <a:t>5. Развернуть мобильное приложение в магазине приложений;</a:t>
            </a:r>
          </a:p>
          <a:p>
            <a:pPr marL="0" marR="180340" lv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dirty="0"/>
              <a:t>6. Оформить документацию по разработанному приложению.</a:t>
            </a:r>
          </a:p>
          <a:p>
            <a:pPr marL="342900" marR="180340" lvl="0" indent="-342900" algn="just">
              <a:lnSpc>
                <a:spcPct val="100000"/>
              </a:lnSpc>
              <a:spcBef>
                <a:spcPts val="200"/>
              </a:spcBef>
              <a:buFont typeface="Times New Roman" panose="02020603050405020304" pitchFamily="18" charset="0"/>
              <a:buChar char="‒"/>
            </a:pPr>
            <a:endParaRPr lang="ru-RU" sz="16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DD4852F-ABE6-490D-86C5-78E7393A5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2237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046E40AF-06B4-48AB-B22F-60ED0149D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предметной области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3C6940E3-CAEE-436C-BB9F-8A55DEF84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Для художников необходимо иметь платформу, на которой можно размещать собственные работы с целью получения известности или поиска работодателя. Представителям компаний, в чьи ряды требуется графический художник той или иной специальности, важно иметь на руках портфолио кандидата, и именно платформы с графическими публикациями не только упрощают поиск, но и дают доступ к работам и ценам на услуги художника. 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63D5F96-48DA-4ED4-89C5-6896AE198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3340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842705D-C9AC-40A1-AC34-D68CF5C67E18}"/>
              </a:ext>
            </a:extLst>
          </p:cNvPr>
          <p:cNvSpPr/>
          <p:nvPr/>
        </p:nvSpPr>
        <p:spPr>
          <a:xfrm>
            <a:off x="221672" y="1336715"/>
            <a:ext cx="11404947" cy="802105"/>
          </a:xfrm>
          <a:prstGeom prst="rect">
            <a:avLst/>
          </a:prstGeom>
          <a:solidFill>
            <a:srgbClr val="E1E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1C65D02-A892-47DB-9440-9709654A3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2" y="371605"/>
            <a:ext cx="7166001" cy="802105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Функциональные требования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C5B6E0E2-0B86-4EF8-A6E9-C60914EE1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5</a:t>
            </a:fld>
            <a:endParaRPr lang="ru-RU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D3A969A5-B446-42DD-BAFB-2B69E31A6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475" y="1417320"/>
            <a:ext cx="6290393" cy="4023360"/>
          </a:xfrm>
        </p:spPr>
        <p:txBody>
          <a:bodyPr>
            <a:normAutofit/>
          </a:bodyPr>
          <a:lstStyle/>
          <a:p>
            <a:r>
              <a:rPr lang="ru-RU" b="1" dirty="0"/>
              <a:t>Распределение обязанностей.</a:t>
            </a:r>
          </a:p>
          <a:p>
            <a:r>
              <a:rPr lang="ru-RU" dirty="0"/>
              <a:t>Модуль «Администрирование». Процессы: управление категориями, модерация публикаций, оценивание и комментирование публикаций.</a:t>
            </a:r>
          </a:p>
          <a:p>
            <a:r>
              <a:rPr lang="ru-RU" dirty="0"/>
              <a:t>Модуль «Эксплуатация». Процессы: управление выставками, участие в выставках, профили художников, страницы просмотра.</a:t>
            </a:r>
          </a:p>
          <a:p>
            <a:r>
              <a:rPr lang="ru-RU" dirty="0"/>
              <a:t>Общий модуль. Процессы: аутентификация, управление и просмотр публикаций.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A2FC859-F082-4B6D-9BB7-B0A02BB820C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411" y="0"/>
            <a:ext cx="4468093" cy="63065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3301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C4BEA4-E166-4A8C-8297-B56EB5EAD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Нефункциональные требования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9E86CA-2F13-4DBD-B42B-99E0B7F63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023360"/>
          </a:xfrm>
        </p:spPr>
        <p:txBody>
          <a:bodyPr numCol="2">
            <a:noAutofit/>
          </a:bodyPr>
          <a:lstStyle/>
          <a:p>
            <a:r>
              <a:rPr lang="ru-RU" sz="1800" b="1" dirty="0"/>
              <a:t>Производительность</a:t>
            </a:r>
            <a:endParaRPr lang="ru-RU" sz="1800" dirty="0"/>
          </a:p>
          <a:p>
            <a:r>
              <a:rPr lang="ru-RU" sz="1800" dirty="0"/>
              <a:t>Загрузка данных: ≤ 2 сек. (4G)</a:t>
            </a:r>
          </a:p>
          <a:p>
            <a:r>
              <a:rPr lang="ru-RU" sz="1800" dirty="0"/>
              <a:t>Отклик UI: ≤ 100 </a:t>
            </a:r>
            <a:r>
              <a:rPr lang="ru-RU" sz="1800" dirty="0" err="1"/>
              <a:t>мс</a:t>
            </a:r>
            <a:endParaRPr lang="ru-RU" sz="1800" dirty="0"/>
          </a:p>
          <a:p>
            <a:r>
              <a:rPr lang="ru-RU" sz="1800" dirty="0"/>
              <a:t>Память: ≤ 250 МБ</a:t>
            </a:r>
          </a:p>
          <a:p>
            <a:r>
              <a:rPr lang="ru-RU" sz="1800" dirty="0"/>
              <a:t>Нагрузка: ~100 одновременных пользователей</a:t>
            </a:r>
          </a:p>
          <a:p>
            <a:r>
              <a:rPr lang="ru-RU" sz="1800" b="1" dirty="0"/>
              <a:t>Надежность</a:t>
            </a:r>
            <a:endParaRPr lang="ru-RU" sz="1800" dirty="0"/>
          </a:p>
          <a:p>
            <a:r>
              <a:rPr lang="ru-RU" sz="1800" dirty="0"/>
              <a:t>Доступность: 99% в месяц</a:t>
            </a:r>
          </a:p>
          <a:p>
            <a:r>
              <a:rPr lang="ru-RU" sz="1800" dirty="0"/>
              <a:t>Восстановление: ≤ 15 мин</a:t>
            </a:r>
          </a:p>
          <a:p>
            <a:r>
              <a:rPr lang="ru-RU" sz="1800" dirty="0"/>
              <a:t>Потеря данных: недопустима</a:t>
            </a:r>
          </a:p>
          <a:p>
            <a:r>
              <a:rPr lang="ru-RU" sz="1800" dirty="0"/>
              <a:t>Критические сбои: ≤ 1 раз в 3 мес.</a:t>
            </a:r>
          </a:p>
          <a:p>
            <a:endParaRPr lang="ru-RU" sz="1800" dirty="0"/>
          </a:p>
          <a:p>
            <a:r>
              <a:rPr lang="ru-RU" sz="1800" b="1" dirty="0"/>
              <a:t>Доступность</a:t>
            </a:r>
            <a:endParaRPr lang="ru-RU" sz="1800" dirty="0"/>
          </a:p>
          <a:p>
            <a:r>
              <a:rPr lang="ru-RU" sz="1800" dirty="0"/>
              <a:t>Адаптивность под разные разрешения экранов</a:t>
            </a:r>
          </a:p>
          <a:p>
            <a:r>
              <a:rPr lang="ru-RU" sz="1800" b="1" dirty="0"/>
              <a:t>Безопасность</a:t>
            </a:r>
            <a:endParaRPr lang="ru-RU" sz="1800" dirty="0"/>
          </a:p>
          <a:p>
            <a:r>
              <a:rPr lang="ru-RU" sz="1800" dirty="0"/>
              <a:t>Шифрование трафика (HTTPS)</a:t>
            </a:r>
          </a:p>
          <a:p>
            <a:r>
              <a:rPr lang="ru-RU" sz="1800" dirty="0"/>
              <a:t>Пароли хранятся в хешированном виде</a:t>
            </a:r>
          </a:p>
          <a:p>
            <a:r>
              <a:rPr lang="ru-RU" sz="1800" dirty="0" err="1"/>
              <a:t>Автологин</a:t>
            </a:r>
            <a:r>
              <a:rPr lang="ru-RU" sz="1800" dirty="0"/>
              <a:t> после 30 мин. неактивности</a:t>
            </a:r>
          </a:p>
          <a:p>
            <a:r>
              <a:rPr lang="ru-RU" sz="1800" b="1" dirty="0" err="1"/>
              <a:t>Сопровождаемость</a:t>
            </a:r>
            <a:endParaRPr lang="ru-RU" sz="1800" dirty="0"/>
          </a:p>
          <a:p>
            <a:r>
              <a:rPr lang="ru-RU" sz="1800" dirty="0"/>
              <a:t>Код: принципы </a:t>
            </a:r>
            <a:r>
              <a:rPr lang="ru-RU" sz="1800" dirty="0" err="1"/>
              <a:t>Clean</a:t>
            </a:r>
            <a:r>
              <a:rPr lang="ru-RU" sz="1800" dirty="0"/>
              <a:t> </a:t>
            </a:r>
            <a:r>
              <a:rPr lang="ru-RU" sz="1800" dirty="0" err="1"/>
              <a:t>Code</a:t>
            </a:r>
            <a:endParaRPr lang="ru-RU" sz="1800" dirty="0"/>
          </a:p>
          <a:p>
            <a:r>
              <a:rPr lang="ru-RU" sz="1800" dirty="0"/>
              <a:t>Архитектура: модульная</a:t>
            </a:r>
          </a:p>
          <a:p>
            <a:r>
              <a:rPr lang="ru-RU" sz="1800" b="1" dirty="0"/>
              <a:t>Переносимость</a:t>
            </a:r>
            <a:endParaRPr lang="ru-RU" sz="1800" dirty="0"/>
          </a:p>
          <a:p>
            <a:r>
              <a:rPr lang="ru-RU" sz="1800" dirty="0"/>
              <a:t>Совместимость: </a:t>
            </a:r>
            <a:r>
              <a:rPr lang="ru-RU" sz="1800" dirty="0" err="1"/>
              <a:t>Android</a:t>
            </a:r>
            <a:r>
              <a:rPr lang="ru-RU" sz="1800" dirty="0"/>
              <a:t> 14+</a:t>
            </a:r>
            <a:endParaRPr lang="ru-RU" sz="2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CBB28F6-B171-46B9-9A0A-C0DE9133E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125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842705D-C9AC-40A1-AC34-D68CF5C67E18}"/>
              </a:ext>
            </a:extLst>
          </p:cNvPr>
          <p:cNvSpPr/>
          <p:nvPr/>
        </p:nvSpPr>
        <p:spPr>
          <a:xfrm>
            <a:off x="221672" y="1336715"/>
            <a:ext cx="11404947" cy="802105"/>
          </a:xfrm>
          <a:prstGeom prst="rect">
            <a:avLst/>
          </a:prstGeom>
          <a:solidFill>
            <a:srgbClr val="E1E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BF33B77-92FF-4C05-8E34-396DDFF136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3" t="483" r="3400" b="10092"/>
          <a:stretch/>
        </p:blipFill>
        <p:spPr>
          <a:xfrm>
            <a:off x="2177923" y="1073126"/>
            <a:ext cx="7492441" cy="5128639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1C65D02-A892-47DB-9440-9709654A3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2" y="371605"/>
            <a:ext cx="11831783" cy="802105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Диаграмма состояний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C5B6E0E2-0B86-4EF8-A6E9-C60914EE1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8057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842705D-C9AC-40A1-AC34-D68CF5C67E18}"/>
              </a:ext>
            </a:extLst>
          </p:cNvPr>
          <p:cNvSpPr/>
          <p:nvPr/>
        </p:nvSpPr>
        <p:spPr>
          <a:xfrm>
            <a:off x="221672" y="1336715"/>
            <a:ext cx="11404947" cy="802105"/>
          </a:xfrm>
          <a:prstGeom prst="rect">
            <a:avLst/>
          </a:prstGeom>
          <a:solidFill>
            <a:srgbClr val="E1E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1C65D02-A892-47DB-9440-9709654A3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2" y="371605"/>
            <a:ext cx="11831783" cy="802105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Диаграмма </a:t>
            </a:r>
            <a:r>
              <a:rPr lang="en-US" dirty="0"/>
              <a:t>BPMN</a:t>
            </a:r>
            <a:endParaRPr lang="ru-RU" dirty="0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C5B6E0E2-0B86-4EF8-A6E9-C60914EE1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8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32172DD-1523-4687-9596-B2D0E3EFA2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" t="22638" r="646" b="30312"/>
          <a:stretch/>
        </p:blipFill>
        <p:spPr>
          <a:xfrm>
            <a:off x="638140" y="1477851"/>
            <a:ext cx="10915720" cy="3712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69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842705D-C9AC-40A1-AC34-D68CF5C67E18}"/>
              </a:ext>
            </a:extLst>
          </p:cNvPr>
          <p:cNvSpPr/>
          <p:nvPr/>
        </p:nvSpPr>
        <p:spPr>
          <a:xfrm>
            <a:off x="221672" y="1336715"/>
            <a:ext cx="11404947" cy="802105"/>
          </a:xfrm>
          <a:prstGeom prst="rect">
            <a:avLst/>
          </a:prstGeom>
          <a:solidFill>
            <a:srgbClr val="E1E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1C65D02-A892-47DB-9440-9709654A3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83655" y="714585"/>
            <a:ext cx="6784914" cy="802105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Схема взаимодействия </a:t>
            </a:r>
            <a:br>
              <a:rPr lang="ru-RU" dirty="0"/>
            </a:br>
            <a:r>
              <a:rPr lang="ru-RU" dirty="0"/>
              <a:t>программ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C5B6E0E2-0B86-4EF8-A6E9-C60914EE1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9</a:t>
            </a:fld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BE7E4CD-FD18-42A1-93C4-A90A02A3DF9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4696" y="102044"/>
            <a:ext cx="4253865" cy="62515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744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842705D-C9AC-40A1-AC34-D68CF5C67E18}"/>
              </a:ext>
            </a:extLst>
          </p:cNvPr>
          <p:cNvSpPr/>
          <p:nvPr/>
        </p:nvSpPr>
        <p:spPr>
          <a:xfrm>
            <a:off x="221672" y="1336715"/>
            <a:ext cx="11404947" cy="802105"/>
          </a:xfrm>
          <a:prstGeom prst="rect">
            <a:avLst/>
          </a:prstGeom>
          <a:solidFill>
            <a:srgbClr val="E1E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1C65D02-A892-47DB-9440-9709654A3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2" y="371605"/>
            <a:ext cx="11831783" cy="802105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Логотип приложения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C5B6E0E2-0B86-4EF8-A6E9-C60914EE1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10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4A95733-3FB6-4636-8A0D-90BC3F4F556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3443" y="1772310"/>
            <a:ext cx="3948240" cy="33133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2259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842705D-C9AC-40A1-AC34-D68CF5C67E18}"/>
              </a:ext>
            </a:extLst>
          </p:cNvPr>
          <p:cNvSpPr/>
          <p:nvPr/>
        </p:nvSpPr>
        <p:spPr>
          <a:xfrm>
            <a:off x="221672" y="1336715"/>
            <a:ext cx="11404947" cy="802105"/>
          </a:xfrm>
          <a:prstGeom prst="rect">
            <a:avLst/>
          </a:prstGeom>
          <a:solidFill>
            <a:srgbClr val="E1E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1C65D02-A892-47DB-9440-9709654A3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2" y="371605"/>
            <a:ext cx="11831783" cy="80210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ER-</a:t>
            </a:r>
            <a:r>
              <a:rPr lang="ru-RU" dirty="0"/>
              <a:t>Диаграмма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C5B6E0E2-0B86-4EF8-A6E9-C60914EE1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11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6DC631B-228B-42A8-91B4-448CB7C84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333" y="1173710"/>
            <a:ext cx="9333333" cy="50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047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CCC22C-8727-40F2-B7F0-16969CF47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Спецификация </a:t>
            </a:r>
            <a:r>
              <a:rPr lang="en-US" dirty="0"/>
              <a:t>API</a:t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7E955560-426A-4775-AF3C-8EEE57665D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0730394"/>
              </p:ext>
            </p:extLst>
          </p:nvPr>
        </p:nvGraphicFramePr>
        <p:xfrm>
          <a:off x="1173226" y="1092627"/>
          <a:ext cx="9690353" cy="48550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3596">
                  <a:extLst>
                    <a:ext uri="{9D8B030D-6E8A-4147-A177-3AD203B41FA5}">
                      <a16:colId xmlns:a16="http://schemas.microsoft.com/office/drawing/2014/main" val="2124840748"/>
                    </a:ext>
                  </a:extLst>
                </a:gridCol>
                <a:gridCol w="1772277">
                  <a:extLst>
                    <a:ext uri="{9D8B030D-6E8A-4147-A177-3AD203B41FA5}">
                      <a16:colId xmlns:a16="http://schemas.microsoft.com/office/drawing/2014/main" val="368504004"/>
                    </a:ext>
                  </a:extLst>
                </a:gridCol>
                <a:gridCol w="1106750">
                  <a:extLst>
                    <a:ext uri="{9D8B030D-6E8A-4147-A177-3AD203B41FA5}">
                      <a16:colId xmlns:a16="http://schemas.microsoft.com/office/drawing/2014/main" val="2084157079"/>
                    </a:ext>
                  </a:extLst>
                </a:gridCol>
                <a:gridCol w="553375">
                  <a:extLst>
                    <a:ext uri="{9D8B030D-6E8A-4147-A177-3AD203B41FA5}">
                      <a16:colId xmlns:a16="http://schemas.microsoft.com/office/drawing/2014/main" val="2652608357"/>
                    </a:ext>
                  </a:extLst>
                </a:gridCol>
                <a:gridCol w="1106750">
                  <a:extLst>
                    <a:ext uri="{9D8B030D-6E8A-4147-A177-3AD203B41FA5}">
                      <a16:colId xmlns:a16="http://schemas.microsoft.com/office/drawing/2014/main" val="1292311861"/>
                    </a:ext>
                  </a:extLst>
                </a:gridCol>
                <a:gridCol w="1272606">
                  <a:extLst>
                    <a:ext uri="{9D8B030D-6E8A-4147-A177-3AD203B41FA5}">
                      <a16:colId xmlns:a16="http://schemas.microsoft.com/office/drawing/2014/main" val="1877166538"/>
                    </a:ext>
                  </a:extLst>
                </a:gridCol>
                <a:gridCol w="3664999">
                  <a:extLst>
                    <a:ext uri="{9D8B030D-6E8A-4147-A177-3AD203B41FA5}">
                      <a16:colId xmlns:a16="http://schemas.microsoft.com/office/drawing/2014/main" val="188930275"/>
                    </a:ext>
                  </a:extLst>
                </a:gridCol>
              </a:tblGrid>
              <a:tr h="14628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ID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</a:rPr>
                        <a:t>Наименование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</a:rPr>
                        <a:t>бизнес-операции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Описание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/>
                </a:tc>
                <a:extLst>
                  <a:ext uri="{0D108BD9-81ED-4DB2-BD59-A6C34878D82A}">
                    <a16:rowId xmlns:a16="http://schemas.microsoft.com/office/drawing/2014/main" val="1848667003"/>
                  </a:ext>
                </a:extLst>
              </a:tr>
              <a:tr h="14628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</a:rPr>
                        <a:t>Получить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</a:rPr>
                        <a:t>категорию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</a:rPr>
                        <a:t>по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 ID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chemeClr val="tx1"/>
                          </a:solidFill>
                          <a:effectLst/>
                        </a:rPr>
                        <a:t>Возвращает информацию о категории по её идентификатору.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/>
                </a:tc>
                <a:extLst>
                  <a:ext uri="{0D108BD9-81ED-4DB2-BD59-A6C34878D82A}">
                    <a16:rowId xmlns:a16="http://schemas.microsoft.com/office/drawing/2014/main" val="1616403052"/>
                  </a:ext>
                </a:extLst>
              </a:tr>
              <a:tr h="73140">
                <a:tc gridSpan="7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ОПИСАНИЕ ЗАПРОСА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/>
                </a:tc>
                <a:extLst>
                  <a:ext uri="{0D108BD9-81ED-4DB2-BD59-A6C34878D82A}">
                    <a16:rowId xmlns:a16="http://schemas.microsoft.com/office/drawing/2014/main" val="3073886829"/>
                  </a:ext>
                </a:extLst>
              </a:tr>
              <a:tr h="146281"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</a:rPr>
                        <a:t>Название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</a:rPr>
                        <a:t>метода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Тип запроса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Endpoint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/>
                </a:tc>
                <a:extLst>
                  <a:ext uri="{0D108BD9-81ED-4DB2-BD59-A6C34878D82A}">
                    <a16:rowId xmlns:a16="http://schemas.microsoft.com/office/drawing/2014/main" val="3147799383"/>
                  </a:ext>
                </a:extLst>
              </a:tr>
              <a:tr h="146281"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</a:rPr>
                        <a:t>getCategory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GET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http://192.168.0.38:8080/vag/api/mobile/categories/{id}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/>
                </a:tc>
                <a:extLst>
                  <a:ext uri="{0D108BD9-81ED-4DB2-BD59-A6C34878D82A}">
                    <a16:rowId xmlns:a16="http://schemas.microsoft.com/office/drawing/2014/main" val="71322792"/>
                  </a:ext>
                </a:extLst>
              </a:tr>
              <a:tr h="73140">
                <a:tc gridSpan="7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ПРИМЕР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/>
                </a:tc>
                <a:extLst>
                  <a:ext uri="{0D108BD9-81ED-4DB2-BD59-A6C34878D82A}">
                    <a16:rowId xmlns:a16="http://schemas.microsoft.com/office/drawing/2014/main" val="1320982261"/>
                  </a:ext>
                </a:extLst>
              </a:tr>
              <a:tr h="73140">
                <a:tc gridSpan="7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http://192.168.0.38:8080/vag/api/mobile/categories/3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/>
                </a:tc>
                <a:extLst>
                  <a:ext uri="{0D108BD9-81ED-4DB2-BD59-A6C34878D82A}">
                    <a16:rowId xmlns:a16="http://schemas.microsoft.com/office/drawing/2014/main" val="2653880426"/>
                  </a:ext>
                </a:extLst>
              </a:tr>
              <a:tr h="73140">
                <a:tc gridSpan="7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ПАРАМЕТРЫ ЗАПРОСА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/>
                </a:tc>
                <a:extLst>
                  <a:ext uri="{0D108BD9-81ED-4DB2-BD59-A6C34878D82A}">
                    <a16:rowId xmlns:a16="http://schemas.microsoft.com/office/drawing/2014/main" val="1462033817"/>
                  </a:ext>
                </a:extLst>
              </a:tr>
              <a:tr h="2925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№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</a:rPr>
                        <a:t>Метка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</a:rPr>
                        <a:t>атрибута</a:t>
                      </a:r>
                      <a:endParaRPr lang="ru-RU" sz="4400" dirty="0">
                        <a:solidFill>
                          <a:schemeClr val="tx1"/>
                        </a:solidFill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Обязат.</a:t>
                      </a:r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Формат атрибута</a:t>
                      </a:r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Пример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747581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id</a:t>
                      </a:r>
                      <a:endParaRPr lang="ru-RU" sz="4400" dirty="0">
                        <a:solidFill>
                          <a:schemeClr val="tx1"/>
                        </a:solidFill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1..1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</a:rPr>
                        <a:t>Идентификатор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</a:rPr>
                        <a:t>категории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6632447"/>
                  </a:ext>
                </a:extLst>
              </a:tr>
              <a:tr h="73140">
                <a:tc gridSpan="7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ТЕЛО ЗАПРОСА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/>
                </a:tc>
                <a:extLst>
                  <a:ext uri="{0D108BD9-81ED-4DB2-BD59-A6C34878D82A}">
                    <a16:rowId xmlns:a16="http://schemas.microsoft.com/office/drawing/2014/main" val="1513495561"/>
                  </a:ext>
                </a:extLst>
              </a:tr>
              <a:tr h="73140">
                <a:tc gridSpan="7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/>
                </a:tc>
                <a:extLst>
                  <a:ext uri="{0D108BD9-81ED-4DB2-BD59-A6C34878D82A}">
                    <a16:rowId xmlns:a16="http://schemas.microsoft.com/office/drawing/2014/main" val="1947524820"/>
                  </a:ext>
                </a:extLst>
              </a:tr>
              <a:tr h="73140">
                <a:tc gridSpan="7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ОПИСАНИЕ ОТВЕТА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/>
                </a:tc>
                <a:extLst>
                  <a:ext uri="{0D108BD9-81ED-4DB2-BD59-A6C34878D82A}">
                    <a16:rowId xmlns:a16="http://schemas.microsoft.com/office/drawing/2014/main" val="3241042482"/>
                  </a:ext>
                </a:extLst>
              </a:tr>
              <a:tr h="2925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№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Метка атрибута</a:t>
                      </a:r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</a:rPr>
                        <a:t>Обязат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Формат атрибута</a:t>
                      </a:r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Пример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4349401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success</a:t>
                      </a:r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1..1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Флаг успешности операции</a:t>
                      </a:r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true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582625"/>
                  </a:ext>
                </a:extLst>
              </a:tr>
              <a:tr h="2925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category</a:t>
                      </a:r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1..1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Объект категории</a:t>
                      </a:r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723497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2.1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category.id</a:t>
                      </a:r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1..1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Идентификатор категории</a:t>
                      </a:r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388736"/>
                  </a:ext>
                </a:extLst>
              </a:tr>
              <a:tr h="2925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2.2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category.name</a:t>
                      </a:r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1..1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Название категории</a:t>
                      </a:r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"Живопись"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158526"/>
                  </a:ext>
                </a:extLst>
              </a:tr>
              <a:tr h="29256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2.3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category.description</a:t>
                      </a:r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0..1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Описание категории</a:t>
                      </a:r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"Классическая живопись"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6896416"/>
                  </a:ext>
                </a:extLst>
              </a:tr>
              <a:tr h="36570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2.4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</a:rPr>
                        <a:t>category.approvedArtworksCount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1..1</a:t>
                      </a:r>
                      <a:endParaRPr lang="ru-RU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</a:rPr>
                        <a:t>Количество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</a:rPr>
                        <a:t>одобренных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</a:rPr>
                        <a:t>работ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25</a:t>
                      </a: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428" marR="2742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165982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E9B1DCF-2B72-47D9-92BF-7FF9EB680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1173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17DB5D-9ABD-4F27-B870-5670FD1AC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развёртывания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2AE599-EE4D-4732-A098-4D0D5E46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13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9B0A0CB-ED90-4CF4-BB15-65DA570BDEA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3905" y="1737360"/>
            <a:ext cx="5645150" cy="45904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4218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AF1E3F-D47A-47E7-B869-F66F22C3F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приложения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579EDB89-E674-4D2E-9EE2-AE2A22CB65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53021" y="1737359"/>
            <a:ext cx="2251683" cy="4229607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9D32B3-1655-4F3A-9FE8-3A857D53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14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69F4746-5A7D-4B0A-8651-D2D4581AD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067" y="1737359"/>
            <a:ext cx="3078085" cy="4286089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437F9DD-6B7E-4EE3-B119-167FACE67341}"/>
              </a:ext>
            </a:extLst>
          </p:cNvPr>
          <p:cNvSpPr/>
          <p:nvPr/>
        </p:nvSpPr>
        <p:spPr>
          <a:xfrm>
            <a:off x="145472" y="5977468"/>
            <a:ext cx="6078856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Структура мобильного приложения 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8058602-A89E-4A12-A122-36D9EDFEB02E}"/>
              </a:ext>
            </a:extLst>
          </p:cNvPr>
          <p:cNvSpPr/>
          <p:nvPr/>
        </p:nvSpPr>
        <p:spPr>
          <a:xfrm>
            <a:off x="6096000" y="5910440"/>
            <a:ext cx="6078856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Структура сервера</a:t>
            </a:r>
          </a:p>
        </p:txBody>
      </p:sp>
    </p:spTree>
    <p:extLst>
      <p:ext uri="{BB962C8B-B14F-4D97-AF65-F5344CB8AC3E}">
        <p14:creationId xmlns:p14="http://schemas.microsoft.com/office/powerpoint/2010/main" val="86216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842705D-C9AC-40A1-AC34-D68CF5C67E18}"/>
              </a:ext>
            </a:extLst>
          </p:cNvPr>
          <p:cNvSpPr/>
          <p:nvPr/>
        </p:nvSpPr>
        <p:spPr>
          <a:xfrm>
            <a:off x="221672" y="1336715"/>
            <a:ext cx="11404947" cy="802105"/>
          </a:xfrm>
          <a:prstGeom prst="rect">
            <a:avLst/>
          </a:prstGeom>
          <a:solidFill>
            <a:srgbClr val="E1E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1C65D02-A892-47DB-9440-9709654A3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788"/>
            <a:ext cx="12192000" cy="802105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Страницы приложения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C5B6E0E2-0B86-4EF8-A6E9-C60914EE1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15</a:t>
            </a:fld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81B67BC-90E2-47F9-8213-C72A96F91183}"/>
              </a:ext>
            </a:extLst>
          </p:cNvPr>
          <p:cNvSpPr/>
          <p:nvPr/>
        </p:nvSpPr>
        <p:spPr>
          <a:xfrm>
            <a:off x="17144" y="5861305"/>
            <a:ext cx="6078856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Документация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C3D87F7-F82B-4929-9554-21C0E1B61A61}"/>
              </a:ext>
            </a:extLst>
          </p:cNvPr>
          <p:cNvSpPr/>
          <p:nvPr/>
        </p:nvSpPr>
        <p:spPr>
          <a:xfrm>
            <a:off x="8242808" y="5861305"/>
            <a:ext cx="2492248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Регистрация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6EC4353-6C94-4EAE-8486-CF298540988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144" y="700399"/>
            <a:ext cx="2492248" cy="5160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20A319A-15E4-4174-9F53-370C2C44EFD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976" y="700399"/>
            <a:ext cx="2492248" cy="5160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E985B71-D9DC-469C-BD8F-169432DC2B9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3976" y="700399"/>
            <a:ext cx="2492248" cy="516090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1E54F80-325C-468B-870E-9E909062D31D}"/>
              </a:ext>
            </a:extLst>
          </p:cNvPr>
          <p:cNvSpPr/>
          <p:nvPr/>
        </p:nvSpPr>
        <p:spPr>
          <a:xfrm>
            <a:off x="5014976" y="5861303"/>
            <a:ext cx="2492248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Авторизация</a:t>
            </a:r>
          </a:p>
        </p:txBody>
      </p:sp>
    </p:spTree>
    <p:extLst>
      <p:ext uri="{BB962C8B-B14F-4D97-AF65-F5344CB8AC3E}">
        <p14:creationId xmlns:p14="http://schemas.microsoft.com/office/powerpoint/2010/main" val="2587895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842705D-C9AC-40A1-AC34-D68CF5C67E18}"/>
              </a:ext>
            </a:extLst>
          </p:cNvPr>
          <p:cNvSpPr/>
          <p:nvPr/>
        </p:nvSpPr>
        <p:spPr>
          <a:xfrm>
            <a:off x="221672" y="1336715"/>
            <a:ext cx="11404947" cy="802105"/>
          </a:xfrm>
          <a:prstGeom prst="rect">
            <a:avLst/>
          </a:prstGeom>
          <a:solidFill>
            <a:srgbClr val="E1E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1C65D02-A892-47DB-9440-9709654A3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788"/>
            <a:ext cx="12192000" cy="802105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Страницы приложения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C5B6E0E2-0B86-4EF8-A6E9-C60914EE1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16</a:t>
            </a:fld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81B67BC-90E2-47F9-8213-C72A96F91183}"/>
              </a:ext>
            </a:extLst>
          </p:cNvPr>
          <p:cNvSpPr/>
          <p:nvPr/>
        </p:nvSpPr>
        <p:spPr>
          <a:xfrm>
            <a:off x="17144" y="5861305"/>
            <a:ext cx="6078856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Документация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C3D87F7-F82B-4929-9554-21C0E1B61A61}"/>
              </a:ext>
            </a:extLst>
          </p:cNvPr>
          <p:cNvSpPr/>
          <p:nvPr/>
        </p:nvSpPr>
        <p:spPr>
          <a:xfrm>
            <a:off x="8242808" y="5861305"/>
            <a:ext cx="2492248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Регистрация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6EC4353-6C94-4EAE-8486-CF298540988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144" y="700399"/>
            <a:ext cx="2492248" cy="5160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20A319A-15E4-4174-9F53-370C2C44EFD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976" y="700399"/>
            <a:ext cx="2492248" cy="5160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E985B71-D9DC-469C-BD8F-169432DC2B9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3976" y="700399"/>
            <a:ext cx="2492248" cy="516090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1E54F80-325C-468B-870E-9E909062D31D}"/>
              </a:ext>
            </a:extLst>
          </p:cNvPr>
          <p:cNvSpPr/>
          <p:nvPr/>
        </p:nvSpPr>
        <p:spPr>
          <a:xfrm>
            <a:off x="5014976" y="5861303"/>
            <a:ext cx="2492248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Авторизация</a:t>
            </a:r>
          </a:p>
        </p:txBody>
      </p:sp>
    </p:spTree>
    <p:extLst>
      <p:ext uri="{BB962C8B-B14F-4D97-AF65-F5344CB8AC3E}">
        <p14:creationId xmlns:p14="http://schemas.microsoft.com/office/powerpoint/2010/main" val="2933606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842705D-C9AC-40A1-AC34-D68CF5C67E18}"/>
              </a:ext>
            </a:extLst>
          </p:cNvPr>
          <p:cNvSpPr/>
          <p:nvPr/>
        </p:nvSpPr>
        <p:spPr>
          <a:xfrm>
            <a:off x="303968" y="1602944"/>
            <a:ext cx="11404947" cy="802105"/>
          </a:xfrm>
          <a:prstGeom prst="rect">
            <a:avLst/>
          </a:prstGeom>
          <a:solidFill>
            <a:srgbClr val="E1E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1C65D02-A892-47DB-9440-9709654A3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788"/>
            <a:ext cx="12192000" cy="802105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Страницы приложения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C5B6E0E2-0B86-4EF8-A6E9-C60914EE1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17</a:t>
            </a:fld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81B67BC-90E2-47F9-8213-C72A96F91183}"/>
              </a:ext>
            </a:extLst>
          </p:cNvPr>
          <p:cNvSpPr/>
          <p:nvPr/>
        </p:nvSpPr>
        <p:spPr>
          <a:xfrm>
            <a:off x="483085" y="5853207"/>
            <a:ext cx="6078856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Главная страница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C3D87F7-F82B-4929-9554-21C0E1B61A61}"/>
              </a:ext>
            </a:extLst>
          </p:cNvPr>
          <p:cNvSpPr/>
          <p:nvPr/>
        </p:nvSpPr>
        <p:spPr>
          <a:xfrm>
            <a:off x="7319079" y="5858885"/>
            <a:ext cx="3625361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Страница с публикациями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3BDB699-5F7A-41F9-A01C-F743FBBB1C5B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638"/>
          <a:stretch/>
        </p:blipFill>
        <p:spPr bwMode="auto">
          <a:xfrm>
            <a:off x="900087" y="692299"/>
            <a:ext cx="2492248" cy="5156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5ECEDA5A-68A8-48DC-AC55-2F79808AEB0D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361"/>
          <a:stretch/>
        </p:blipFill>
        <p:spPr bwMode="auto">
          <a:xfrm>
            <a:off x="3392335" y="700396"/>
            <a:ext cx="2490343" cy="5156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803D85C-73FA-43B1-8C4E-0E8E66FB898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1382" y="700396"/>
            <a:ext cx="2492247" cy="5156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C568D5B7-56B9-41AB-A84C-A9733592794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629" y="700396"/>
            <a:ext cx="2490343" cy="51568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98999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842705D-C9AC-40A1-AC34-D68CF5C67E18}"/>
              </a:ext>
            </a:extLst>
          </p:cNvPr>
          <p:cNvSpPr/>
          <p:nvPr/>
        </p:nvSpPr>
        <p:spPr>
          <a:xfrm>
            <a:off x="303968" y="1602944"/>
            <a:ext cx="11404947" cy="802105"/>
          </a:xfrm>
          <a:prstGeom prst="rect">
            <a:avLst/>
          </a:prstGeom>
          <a:solidFill>
            <a:srgbClr val="E1E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1C65D02-A892-47DB-9440-9709654A3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788"/>
            <a:ext cx="12192000" cy="802105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Страницы приложения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C5B6E0E2-0B86-4EF8-A6E9-C60914EE1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18</a:t>
            </a:fld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81B67BC-90E2-47F9-8213-C72A96F91183}"/>
              </a:ext>
            </a:extLst>
          </p:cNvPr>
          <p:cNvSpPr/>
          <p:nvPr/>
        </p:nvSpPr>
        <p:spPr>
          <a:xfrm>
            <a:off x="483085" y="5853207"/>
            <a:ext cx="6078856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Общедоступные списки категорий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C3D87F7-F82B-4929-9554-21C0E1B61A61}"/>
              </a:ext>
            </a:extLst>
          </p:cNvPr>
          <p:cNvSpPr/>
          <p:nvPr/>
        </p:nvSpPr>
        <p:spPr>
          <a:xfrm>
            <a:off x="7443701" y="5853207"/>
            <a:ext cx="3545931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Управление категориями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34482DC-DEC5-4939-B4C0-FA8E74C42E2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027" y="697435"/>
            <a:ext cx="2490343" cy="5155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C3B8E14-34EB-4ED0-AAF4-B760F430F44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0274" y="697435"/>
            <a:ext cx="2490343" cy="5155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EB32143-B563-455F-B3A8-F85268445E5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1382" y="697435"/>
            <a:ext cx="2490343" cy="5155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883659A-500A-4EC8-BD21-E4F687E024C7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2918" y="697435"/>
            <a:ext cx="2529967" cy="51557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8023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842705D-C9AC-40A1-AC34-D68CF5C67E18}"/>
              </a:ext>
            </a:extLst>
          </p:cNvPr>
          <p:cNvSpPr/>
          <p:nvPr/>
        </p:nvSpPr>
        <p:spPr>
          <a:xfrm>
            <a:off x="221672" y="1336715"/>
            <a:ext cx="11404947" cy="802105"/>
          </a:xfrm>
          <a:prstGeom prst="rect">
            <a:avLst/>
          </a:prstGeom>
          <a:solidFill>
            <a:srgbClr val="E1E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1C65D02-A892-47DB-9440-9709654A3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788"/>
            <a:ext cx="12192000" cy="802105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Страницы приложения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C5B6E0E2-0B86-4EF8-A6E9-C60914EE1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19</a:t>
            </a:fld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81B67BC-90E2-47F9-8213-C72A96F91183}"/>
              </a:ext>
            </a:extLst>
          </p:cNvPr>
          <p:cNvSpPr/>
          <p:nvPr/>
        </p:nvSpPr>
        <p:spPr>
          <a:xfrm>
            <a:off x="-404048" y="5861303"/>
            <a:ext cx="6078856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Понравившиеся работы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C3D87F7-F82B-4929-9554-21C0E1B61A61}"/>
              </a:ext>
            </a:extLst>
          </p:cNvPr>
          <p:cNvSpPr/>
          <p:nvPr/>
        </p:nvSpPr>
        <p:spPr>
          <a:xfrm>
            <a:off x="8089299" y="5861303"/>
            <a:ext cx="3123184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Создание публикации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1E54F80-325C-468B-870E-9E909062D31D}"/>
              </a:ext>
            </a:extLst>
          </p:cNvPr>
          <p:cNvSpPr/>
          <p:nvPr/>
        </p:nvSpPr>
        <p:spPr>
          <a:xfrm>
            <a:off x="4589272" y="5861303"/>
            <a:ext cx="3653536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ctr">
              <a:lnSpc>
                <a:spcPct val="150000"/>
              </a:lnSpc>
              <a:spcAft>
                <a:spcPts val="0"/>
              </a:spcAft>
            </a:pPr>
            <a:r>
              <a:rPr lang="ru-RU" sz="1400" cap="all" spc="200" dirty="0">
                <a:solidFill>
                  <a:schemeClr val="tx2"/>
                </a:solidFill>
                <a:latin typeface="+mj-lt"/>
              </a:rPr>
              <a:t>Управление публикациями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86231E2-929C-45AF-84EF-79DB125A5A9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371" y="700397"/>
            <a:ext cx="2500019" cy="5160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1DBDE0E-26A8-4F65-9027-D1425178726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5990" y="700396"/>
            <a:ext cx="2500019" cy="5160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6690559-88A4-4FE9-BE8A-E9545E20A75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609" y="700397"/>
            <a:ext cx="2500020" cy="51243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3149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842705D-C9AC-40A1-AC34-D68CF5C67E18}"/>
              </a:ext>
            </a:extLst>
          </p:cNvPr>
          <p:cNvSpPr/>
          <p:nvPr/>
        </p:nvSpPr>
        <p:spPr>
          <a:xfrm>
            <a:off x="221672" y="1336715"/>
            <a:ext cx="11404947" cy="802105"/>
          </a:xfrm>
          <a:prstGeom prst="rect">
            <a:avLst/>
          </a:prstGeom>
          <a:solidFill>
            <a:srgbClr val="E1E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1C65D02-A892-47DB-9440-9709654A3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2" y="371605"/>
            <a:ext cx="11748655" cy="802105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Тестирование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C5B6E0E2-0B86-4EF8-A6E9-C60914EE1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20</a:t>
            </a:fld>
            <a:endParaRPr lang="ru-RU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2AA7D72D-5A63-4B82-9113-607E1CD75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625076"/>
              </p:ext>
            </p:extLst>
          </p:nvPr>
        </p:nvGraphicFramePr>
        <p:xfrm>
          <a:off x="565381" y="1173710"/>
          <a:ext cx="7330313" cy="499847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83677">
                  <a:extLst>
                    <a:ext uri="{9D8B030D-6E8A-4147-A177-3AD203B41FA5}">
                      <a16:colId xmlns:a16="http://schemas.microsoft.com/office/drawing/2014/main" val="2130078401"/>
                    </a:ext>
                  </a:extLst>
                </a:gridCol>
                <a:gridCol w="5546636">
                  <a:extLst>
                    <a:ext uri="{9D8B030D-6E8A-4147-A177-3AD203B41FA5}">
                      <a16:colId xmlns:a16="http://schemas.microsoft.com/office/drawing/2014/main" val="1126173408"/>
                    </a:ext>
                  </a:extLst>
                </a:gridCol>
              </a:tblGrid>
              <a:tr h="659433">
                <a:tc>
                  <a:txBody>
                    <a:bodyPr/>
                    <a:lstStyle/>
                    <a:p>
                      <a:pPr marL="17780" indent="1270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Название тест кейса: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7780" indent="1270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Редактировать категорию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9516043"/>
                  </a:ext>
                </a:extLst>
              </a:tr>
              <a:tr h="329716">
                <a:tc>
                  <a:txBody>
                    <a:bodyPr/>
                    <a:lstStyle/>
                    <a:p>
                      <a:pPr marL="17780" indent="1270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Начальное условие: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7780" indent="1270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Сервер запущен, авторизация от имени администратора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4074460"/>
                  </a:ext>
                </a:extLst>
              </a:tr>
              <a:tr h="1978297">
                <a:tc>
                  <a:txBody>
                    <a:bodyPr/>
                    <a:lstStyle/>
                    <a:p>
                      <a:pPr marL="17780" indent="1270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Последовательнос</a:t>
                      </a:r>
                      <a:r>
                        <a:rPr lang="en-US" sz="1800">
                          <a:effectLst/>
                        </a:rPr>
                        <a:t>ть действий: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7780" indent="1270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1) Перейти в профиль пользователя</a:t>
                      </a:r>
                    </a:p>
                    <a:p>
                      <a:pPr marL="17780" indent="1270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2) Перейти в настройки профиля</a:t>
                      </a:r>
                      <a:br>
                        <a:rPr lang="ru-RU" sz="1800" dirty="0">
                          <a:effectLst/>
                        </a:rPr>
                      </a:br>
                      <a:r>
                        <a:rPr lang="ru-RU" sz="1800" dirty="0">
                          <a:effectLst/>
                        </a:rPr>
                        <a:t>3) В админ-панели выбрать «Управление категориями» </a:t>
                      </a:r>
                    </a:p>
                    <a:p>
                      <a:pPr marL="17780" indent="1270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4) Выбрать нужную категорию («Пейзаж») и изменить название («Пейзаж 2») </a:t>
                      </a:r>
                      <a:br>
                        <a:rPr lang="ru-RU" sz="1800" dirty="0">
                          <a:effectLst/>
                        </a:rPr>
                      </a:br>
                      <a:r>
                        <a:rPr lang="ru-RU" sz="1800" dirty="0">
                          <a:effectLst/>
                        </a:rPr>
                        <a:t>5) Сохранить изменения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2067082"/>
                  </a:ext>
                </a:extLst>
              </a:tr>
              <a:tr h="989149">
                <a:tc>
                  <a:txBody>
                    <a:bodyPr/>
                    <a:lstStyle/>
                    <a:p>
                      <a:pPr marL="17780" indent="1270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Ожидаемый результат тест кейса: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7780" indent="1270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Категория изменила название, получено уведомление об изменениях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7417293"/>
                  </a:ext>
                </a:extLst>
              </a:tr>
              <a:tr h="659433">
                <a:tc>
                  <a:txBody>
                    <a:bodyPr/>
                    <a:lstStyle/>
                    <a:p>
                      <a:pPr marL="17780" indent="1270"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Реальный результат тест кейса: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7780" indent="1270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 </a:t>
                      </a:r>
                    </a:p>
                    <a:p>
                      <a:pPr marL="17780" indent="1270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Результат соответствует ожиданиям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3864446"/>
                  </a:ext>
                </a:extLst>
              </a:tr>
            </a:tbl>
          </a:graphicData>
        </a:graphic>
      </p:graphicFrame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A3AF987-4845-4A6D-922C-75FE5A62F20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976" y="1336714"/>
            <a:ext cx="2260507" cy="45520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736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04F458-1CF0-49FE-905E-6B0FF31FB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9613DA-6F3D-42D8-B726-8DA0A59CD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sz="2800" dirty="0"/>
              <a:t>В рамках выполнения курсового проекта было реализовано мобильное приложение информационной системы «Виртуальная арт-галерея», модуль «Администрирование». Разработка данного модуля позволила создать функциональный инструмент для управления и модерацией публикациями, взаимодействия с художниками и посетителями, а также управление категориями.</a:t>
            </a:r>
          </a:p>
          <a:p>
            <a:r>
              <a:rPr lang="ru-RU" sz="2800" dirty="0"/>
              <a:t>Созданное приложение обеспечивает удобный доступ пользователей к публикациям и их категориям, расширяет возможности художников для продвижения их работ, а также предоставляет администраторам мощный инструмент для управления.</a:t>
            </a:r>
          </a:p>
          <a:p>
            <a:r>
              <a:rPr lang="ru-RU" sz="2800" dirty="0"/>
              <a:t>Данный проект демонстрирует, что виртуальные арт-галереи становятся эффективным решением для популяризации искусства в условиях цифровизации. Разработанная система не только решает практические задачи управления контентом, но и способствует созданию уникального пользовательского опыта, что делает ее актуальной и перспективной для дальнейшего развития.</a:t>
            </a:r>
          </a:p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08FD6BC-CA9F-4EBF-9480-ED4B08E08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EC098-2CBC-4E95-976E-3B85D117C1EE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81878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90B2388-0500-4ABC-87CB-0DE2CAD2DA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ru-RU" dirty="0"/>
              <a:t>Спасибо за внимание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8E85476A-5110-494D-AE13-653674FD12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156449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738</TotalTime>
  <Words>875</Words>
  <Application>Microsoft Office PowerPoint</Application>
  <PresentationFormat>Широкоэкранный</PresentationFormat>
  <Paragraphs>182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6" baseType="lpstr">
      <vt:lpstr>Calibri</vt:lpstr>
      <vt:lpstr>Calibri Light</vt:lpstr>
      <vt:lpstr>Times New Roman</vt:lpstr>
      <vt:lpstr>Ретро</vt:lpstr>
      <vt:lpstr>Курсовой проект Разработка мобильного приложения «Виртуальная арт-галерея» Модуль администрирования</vt:lpstr>
      <vt:lpstr>Введение</vt:lpstr>
      <vt:lpstr>Цель и задачи</vt:lpstr>
      <vt:lpstr>Описание предметной области</vt:lpstr>
      <vt:lpstr>Функциональные требования</vt:lpstr>
      <vt:lpstr>Нефункциональные требования</vt:lpstr>
      <vt:lpstr>Диаграмма состояний</vt:lpstr>
      <vt:lpstr>Диаграмма BPMN</vt:lpstr>
      <vt:lpstr>Схема взаимодействия  программ</vt:lpstr>
      <vt:lpstr>Логотип приложения</vt:lpstr>
      <vt:lpstr>ER-Диаграмма</vt:lpstr>
      <vt:lpstr>Спецификация API </vt:lpstr>
      <vt:lpstr>Диаграмма развёртывания</vt:lpstr>
      <vt:lpstr>Структура приложения</vt:lpstr>
      <vt:lpstr>Страницы приложения</vt:lpstr>
      <vt:lpstr>Страницы приложения</vt:lpstr>
      <vt:lpstr>Страницы приложения</vt:lpstr>
      <vt:lpstr>Страницы приложения</vt:lpstr>
      <vt:lpstr>Страницы приложения</vt:lpstr>
      <vt:lpstr>Тестирование</vt:lpstr>
      <vt:lpstr>Заключение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Курсовой проект База данных для информационной системы «Рабочие программы кафедры».  Модуль «Рабочие программы»</dc:title>
  <dc:creator>Таисия Шутова</dc:creator>
  <cp:lastModifiedBy>Мария Жминьковская</cp:lastModifiedBy>
  <cp:revision>71</cp:revision>
  <dcterms:created xsi:type="dcterms:W3CDTF">2024-05-10T21:29:33Z</dcterms:created>
  <dcterms:modified xsi:type="dcterms:W3CDTF">2025-12-14T15:53:12Z</dcterms:modified>
</cp:coreProperties>
</file>