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10" r:id="rId1"/>
  </p:sldMasterIdLst>
  <p:notesMasterIdLst>
    <p:notesMasterId r:id="rId22"/>
  </p:notesMasterIdLst>
  <p:sldIdLst>
    <p:sldId id="256" r:id="rId2"/>
    <p:sldId id="257" r:id="rId3"/>
    <p:sldId id="258" r:id="rId4"/>
    <p:sldId id="275" r:id="rId5"/>
    <p:sldId id="327" r:id="rId6"/>
    <p:sldId id="276" r:id="rId7"/>
    <p:sldId id="310" r:id="rId8"/>
    <p:sldId id="311" r:id="rId9"/>
    <p:sldId id="315" r:id="rId10"/>
    <p:sldId id="328" r:id="rId11"/>
    <p:sldId id="329" r:id="rId12"/>
    <p:sldId id="317" r:id="rId13"/>
    <p:sldId id="318" r:id="rId14"/>
    <p:sldId id="330" r:id="rId15"/>
    <p:sldId id="319" r:id="rId16"/>
    <p:sldId id="331" r:id="rId17"/>
    <p:sldId id="332" r:id="rId18"/>
    <p:sldId id="333" r:id="rId19"/>
    <p:sldId id="272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2FD"/>
    <a:srgbClr val="FFA500"/>
    <a:srgbClr val="F44336"/>
    <a:srgbClr val="4CAF50"/>
    <a:srgbClr val="79747E"/>
    <a:srgbClr val="4A4459"/>
    <a:srgbClr val="1D1B20"/>
    <a:srgbClr val="FEF7FF"/>
    <a:srgbClr val="D0BCFF"/>
    <a:srgbClr val="6750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BD791-184B-487B-90B6-B1E1ECD6CB2B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D579E-385A-4295-A932-6BA6B1686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16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3B7E-871C-4FC8-B820-300CD8F2EF29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65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BCE4-56EA-4C96-A8C2-263D61810A9C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4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3C1D9-0779-4BE0-8B57-2E2DF4BF7508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77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C367-BAD5-43CC-98EA-270B567B4A36}" type="datetime1">
              <a:rPr lang="ru-RU" smtClean="0"/>
              <a:t>14.12.2025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67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E0D0-BD27-46ED-9B32-A5E3387380EF}" type="datetime1">
              <a:rPr lang="ru-RU" smtClean="0"/>
              <a:t>14.12.2025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86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EF70-D998-41FB-B952-B3C3BE6587C0}" type="datetime1">
              <a:rPr lang="ru-RU" smtClean="0"/>
              <a:t>14.12.2025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54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71ED0-2E96-42A5-AEE1-1DE201924109}" type="datetime1">
              <a:rPr lang="ru-RU" smtClean="0"/>
              <a:t>14.12.2025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06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48AEDDA-B7F5-4902-8580-162930CE421D}" type="datetime1">
              <a:rPr lang="ru-RU" smtClean="0"/>
              <a:t>14.12.2025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86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CD25-C8DB-4B7A-A6A4-3D0222C47534}" type="datetime1">
              <a:rPr lang="ru-RU" smtClean="0"/>
              <a:t>14.12.2025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552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B24D-71F8-440E-A945-E373082D12F9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48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F05F-C251-417A-8483-E83CB69CA315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2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AF79E36-F040-4F03-B3E7-5A6950B58B75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5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1" r:id="rId1"/>
    <p:sldLayoutId id="2147484212" r:id="rId2"/>
    <p:sldLayoutId id="2147484213" r:id="rId3"/>
    <p:sldLayoutId id="2147484214" r:id="rId4"/>
    <p:sldLayoutId id="2147484215" r:id="rId5"/>
    <p:sldLayoutId id="2147484216" r:id="rId6"/>
    <p:sldLayoutId id="2147484217" r:id="rId7"/>
    <p:sldLayoutId id="2147484218" r:id="rId8"/>
    <p:sldLayoutId id="2147484219" r:id="rId9"/>
    <p:sldLayoutId id="2147484220" r:id="rId10"/>
    <p:sldLayoutId id="214748422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DBFAA-FA8A-4E9B-8D1B-BB8986994A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4000" dirty="0"/>
              <a:t>Курсовой проект</a:t>
            </a:r>
            <a:br>
              <a:rPr lang="ru-RU" sz="4000" dirty="0"/>
            </a:br>
            <a:r>
              <a:rPr lang="ru-RU" sz="4000" b="1" dirty="0"/>
              <a:t>Разработка мобильного приложения «Виртуальная арт-галерея». Модуль эксплуатации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22463D-10D4-4B11-804A-17E099D95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477327"/>
          </a:xfrm>
        </p:spPr>
        <p:txBody>
          <a:bodyPr>
            <a:normAutofit fontScale="92500" lnSpcReduction="20000"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Выполнила: студентка гр. ПРИ-122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		Шутова Т.Е.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Принял:	ст. преп. каф. ИСПИ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Данилов В.В.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AB176F1-4C7E-4284-8B77-B15D73A7275D}"/>
              </a:ext>
            </a:extLst>
          </p:cNvPr>
          <p:cNvSpPr/>
          <p:nvPr/>
        </p:nvSpPr>
        <p:spPr>
          <a:xfrm>
            <a:off x="0" y="0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600" cap="all" spc="200" dirty="0">
                <a:solidFill>
                  <a:schemeClr val="tx2"/>
                </a:solidFill>
                <a:latin typeface="+mj-lt"/>
              </a:rPr>
              <a:t>Федеральное государственное бюджетное образовательное учреждение высшего образования </a:t>
            </a:r>
          </a:p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600" cap="all" spc="200" dirty="0">
                <a:solidFill>
                  <a:schemeClr val="tx2"/>
                </a:solidFill>
                <a:latin typeface="+mj-lt"/>
              </a:rPr>
              <a:t>«Владимирский государственный университет </a:t>
            </a:r>
          </a:p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600" cap="all" spc="200" dirty="0">
                <a:solidFill>
                  <a:schemeClr val="tx2"/>
                </a:solidFill>
                <a:latin typeface="+mj-lt"/>
              </a:rPr>
              <a:t>имени Александра Григорьевича и Николая Григорьевича Столетовых»</a:t>
            </a:r>
          </a:p>
          <a:p>
            <a:pPr algn="ctr"/>
            <a:r>
              <a:rPr lang="ru-RU" sz="1600" cap="all" spc="200" dirty="0">
                <a:solidFill>
                  <a:schemeClr val="tx2"/>
                </a:solidFill>
                <a:latin typeface="+mj-lt"/>
              </a:rPr>
              <a:t>Кафедра информационных систем и программной инженерии</a:t>
            </a:r>
            <a:endParaRPr lang="ru-RU" sz="2400" cap="all" spc="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8123EEF-5D28-413C-B61A-9481AB84AAEF}"/>
              </a:ext>
            </a:extLst>
          </p:cNvPr>
          <p:cNvSpPr/>
          <p:nvPr/>
        </p:nvSpPr>
        <p:spPr>
          <a:xfrm>
            <a:off x="4973577" y="5908002"/>
            <a:ext cx="2244845" cy="3820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Владимир, 2025</a:t>
            </a:r>
          </a:p>
        </p:txBody>
      </p:sp>
    </p:spTree>
    <p:extLst>
      <p:ext uri="{BB962C8B-B14F-4D97-AF65-F5344CB8AC3E}">
        <p14:creationId xmlns:p14="http://schemas.microsoft.com/office/powerpoint/2010/main" val="4102665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05D1BC-A25A-4E1A-91DD-A1C15BABA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677BB0-C9F0-4DB7-ACB0-8C5D407A7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 развитием цифровых технологий и их активным внедрением в различные сферы жизни, искусство претерпевает значительные изменения. Одной из ключевых тенденций является переход к виртуальным форматам взаимодействия с произведениями искусства, что особенно актуально в условиях глобализации и развития удаленных коммуникаций. Создание виртуальных арт-галерей становится важным инструментом для популяризации искусства, расширения аудитории и предоставления пользователям доступа к культурному наследию, независимо от их географического положения.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931FC9-C717-4263-9760-DF92D263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0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50D4C97-0D03-477D-A4D3-B7A909B01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21CA55A-7696-4E29-ACD5-4F80A842F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1" y="1737360"/>
            <a:ext cx="10058400" cy="4522763"/>
          </a:xfrm>
        </p:spPr>
        <p:txBody>
          <a:bodyPr>
            <a:noAutofit/>
          </a:bodyPr>
          <a:lstStyle/>
          <a:p>
            <a:pPr marL="0" marR="180340" lv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b="1" dirty="0">
                <a:effectLst/>
                <a:ea typeface="Times New Roman" panose="02020603050405020304" pitchFamily="18" charset="0"/>
              </a:rPr>
              <a:t>Цель:</a:t>
            </a:r>
          </a:p>
          <a:p>
            <a:pPr marL="0" marR="180340" lvl="0" indent="360363" algn="just">
              <a:lnSpc>
                <a:spcPct val="100000"/>
              </a:lnSpc>
              <a:spcBef>
                <a:spcPts val="200"/>
              </a:spcBef>
              <a:buFont typeface="Symbol" panose="05050102010706020507" pitchFamily="18" charset="2"/>
              <a:buChar char=""/>
            </a:pPr>
            <a:r>
              <a:rPr lang="ru-RU" dirty="0"/>
              <a:t>Разработать мобильное приложение информационной системы «Виртуальная арт-галерея» с использованием </a:t>
            </a:r>
            <a:r>
              <a:rPr lang="en-US" dirty="0"/>
              <a:t>Android Native</a:t>
            </a:r>
            <a:r>
              <a:rPr lang="ru-RU" dirty="0"/>
              <a:t>.</a:t>
            </a:r>
          </a:p>
          <a:p>
            <a:pPr marL="0" marR="180340" lv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b="1" dirty="0">
                <a:effectLst/>
                <a:ea typeface="Times New Roman" panose="02020603050405020304" pitchFamily="18" charset="0"/>
              </a:rPr>
              <a:t>Задачи:</a:t>
            </a:r>
          </a:p>
          <a:p>
            <a:pPr marL="457200" marR="180340" lvl="0" indent="-457200" algn="just">
              <a:lnSpc>
                <a:spcPct val="10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ru-RU" dirty="0">
                <a:effectLst/>
                <a:ea typeface="Times New Roman" panose="02020603050405020304" pitchFamily="18" charset="0"/>
              </a:rPr>
              <a:t>Анализ предметной области, функциональная декомпозиция системы, требования к системе, обзор аналогов;</a:t>
            </a:r>
          </a:p>
          <a:p>
            <a:pPr marL="457200" marR="180340" lvl="0" indent="-457200" algn="just">
              <a:lnSpc>
                <a:spcPct val="10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ru-RU" dirty="0">
                <a:effectLst/>
                <a:ea typeface="Times New Roman" panose="02020603050405020304" pitchFamily="18" charset="0"/>
              </a:rPr>
              <a:t>Проектирование мобильного приложения, разработка модели данных;</a:t>
            </a:r>
          </a:p>
          <a:p>
            <a:pPr marL="457200" marR="180340" lvl="0" indent="-457200" algn="just">
              <a:lnSpc>
                <a:spcPct val="10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ru-RU" dirty="0">
                <a:effectLst/>
                <a:ea typeface="Times New Roman" panose="02020603050405020304" pitchFamily="18" charset="0"/>
              </a:rPr>
              <a:t>Реализация программной системы с использованием заданных технологий, разработка своего API и использование стороннего API;</a:t>
            </a:r>
          </a:p>
          <a:p>
            <a:pPr marL="457200" marR="180340" lvl="0" indent="-457200" algn="just">
              <a:lnSpc>
                <a:spcPct val="10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ru-RU" dirty="0">
                <a:effectLst/>
                <a:ea typeface="Times New Roman" panose="02020603050405020304" pitchFamily="18" charset="0"/>
              </a:rPr>
              <a:t>Разработать сценарии тестирования приложения;</a:t>
            </a:r>
          </a:p>
          <a:p>
            <a:pPr marL="457200" marR="180340" lvl="0" indent="-457200" algn="just">
              <a:lnSpc>
                <a:spcPct val="10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ru-RU" dirty="0">
                <a:effectLst/>
                <a:ea typeface="Times New Roman" panose="02020603050405020304" pitchFamily="18" charset="0"/>
              </a:rPr>
              <a:t>Развернуть мобильное приложение в магазине приложений;</a:t>
            </a:r>
          </a:p>
          <a:p>
            <a:pPr marL="457200" marR="180340" lvl="0" indent="-457200" algn="just">
              <a:lnSpc>
                <a:spcPct val="10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ru-RU" dirty="0">
                <a:effectLst/>
                <a:ea typeface="Times New Roman" panose="02020603050405020304" pitchFamily="18" charset="0"/>
              </a:rPr>
              <a:t>Оформить документацию по разработанному приложению.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DD4852F-ABE6-490D-86C5-78E7393A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23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046E40AF-06B4-48AB-B22F-60ED0149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предметной области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C6940E3-CAEE-436C-BB9F-8A55DEF84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Для художников необходимо иметь платформу, на которой можно размещать собственные работы с целью получения известности или поиска работодателя. Представителям компаний, в чьи ряды требуется графический художник той или иной специальности, важно иметь на руках портфолио кандидата, и именно платформы с графическими публикациями не только упрощают поиск, но и дают доступ к работам художника. </a:t>
            </a:r>
          </a:p>
          <a:p>
            <a:r>
              <a:rPr lang="ru-RU" sz="2400" dirty="0"/>
              <a:t>Помимо этого, художники-любители могут получить аудиторию, а ценители искусства — найти новых кумиров современности или ознакомиться с работами мастеров прошлых эпох.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3D5F96-48DA-4ED4-89C5-6896AE19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34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D8C1D-829A-B76C-1BE3-E967603D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аналогов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EEC11B29-00C7-417F-EE81-091BDD5D3D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330114"/>
              </p:ext>
            </p:extLst>
          </p:nvPr>
        </p:nvGraphicFramePr>
        <p:xfrm>
          <a:off x="1096963" y="1846263"/>
          <a:ext cx="10058400" cy="34791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87767058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9567959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45244304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2405642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213245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1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VAGMobile</a:t>
                      </a:r>
                      <a:endParaRPr lang="ru-RU" sz="1100" b="1" i="1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Pinterest</a:t>
                      </a:r>
                      <a:endParaRPr lang="ru-RU" sz="11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DeviantArt</a:t>
                      </a:r>
                      <a:endParaRPr lang="ru-RU" sz="11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Artsy</a:t>
                      </a:r>
                      <a:endParaRPr lang="ru-RU" sz="11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1531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Целевая аудитория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Художники и ценители искусства с контролем качества</a:t>
                      </a:r>
                      <a:endParaRPr lang="ru-RU" sz="11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Широкая публика для визуального поиска идей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Художники и арт-сообщество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Коллекционеры и профессионалы арт-рынка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931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Основная функция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Публикация художественных работ с контролем качества</a:t>
                      </a:r>
                      <a:endParaRPr lang="ru-RU" sz="11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Визуальный поиск и сохранение контента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Сообщество художников, портфолио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Коммерческая платформа для искусства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8037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Модерация контента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Строгая система одобрения/отклонения публикаций</a:t>
                      </a:r>
                      <a:endParaRPr lang="ru-RU" sz="11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Автоматическая + пользовательские жалобы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Сообщество + модераторы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Строгая верификация галерей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6806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Социальные функции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Лайки, комментарии, профили художников, выставки</a:t>
                      </a:r>
                      <a:endParaRPr lang="ru-RU" sz="11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Доски, следование, репосты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Критика, группы, конкурсы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Следование галереям, коллекции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7910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Коммерческая ориентация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Минимальная (демонстрация искусства)</a:t>
                      </a:r>
                      <a:endParaRPr lang="ru-RU" sz="11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Реклама, партнерства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Платные подписки, комиссионные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Аукционы, продажи искусства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5243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Категоризация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Категории,, выставки</a:t>
                      </a:r>
                      <a:endParaRPr lang="ru-RU" sz="11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Широкие категории интересов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Типы искусства, стили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Галереи, художники, движения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6707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UI/UX подход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Элегантный Material Design 3, художественная атмосфера</a:t>
                      </a:r>
                      <a:endParaRPr lang="ru-RU" sz="11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Яркий, интуитивный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Темный интерфейс для художников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Минималистичный премиум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034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Специализация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Традиционное искусство с модерацией</a:t>
                      </a:r>
                      <a:endParaRPr lang="ru-RU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Широкий визуальный контент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Художественное сообщество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Коммерческий арт-рынок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6936228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6CA300-A5FD-10EA-B7FA-768D2BA2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351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7166001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Проектирование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D3A969A5-B446-42DD-BAFB-2B69E31A6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475" y="1417320"/>
            <a:ext cx="6290393" cy="4023360"/>
          </a:xfrm>
        </p:spPr>
        <p:txBody>
          <a:bodyPr>
            <a:normAutofit/>
          </a:bodyPr>
          <a:lstStyle/>
          <a:p>
            <a:r>
              <a:rPr lang="ru-RU" b="1" dirty="0"/>
              <a:t>Реализуемые взаимодействия:</a:t>
            </a:r>
          </a:p>
          <a:p>
            <a:pPr marL="342900" marR="180340" lvl="0" indent="-342900" algn="just">
              <a:lnSpc>
                <a:spcPct val="100000"/>
              </a:lnSpc>
              <a:spcBef>
                <a:spcPts val="200"/>
              </a:spcBef>
              <a:buFont typeface="Times New Roman" panose="02020603050405020304" pitchFamily="18" charset="0"/>
              <a:buChar char="‒"/>
            </a:pPr>
            <a:r>
              <a:rPr lang="ru-RU" dirty="0">
                <a:ea typeface="Times New Roman" panose="02020603050405020304" pitchFamily="18" charset="0"/>
              </a:rPr>
              <a:t>Авторизация и регистрация (администратор, художник, посетитель);</a:t>
            </a:r>
          </a:p>
          <a:p>
            <a:pPr marL="342900" marR="180340" lvl="0" indent="-342900" algn="just">
              <a:lnSpc>
                <a:spcPct val="100000"/>
              </a:lnSpc>
              <a:spcBef>
                <a:spcPts val="200"/>
              </a:spcBef>
              <a:buFont typeface="Times New Roman" panose="02020603050405020304" pitchFamily="18" charset="0"/>
              <a:buChar char="‒"/>
            </a:pPr>
            <a:r>
              <a:rPr lang="ru-RU" dirty="0">
                <a:ea typeface="Times New Roman" panose="02020603050405020304" pitchFamily="18" charset="0"/>
              </a:rPr>
              <a:t>Система просмотра публикаций, выставок, художников (администратор, художник, посетитель);</a:t>
            </a:r>
          </a:p>
          <a:p>
            <a:pPr marL="342900" marR="180340" lvl="0" indent="-342900" algn="just">
              <a:lnSpc>
                <a:spcPct val="100000"/>
              </a:lnSpc>
              <a:spcBef>
                <a:spcPts val="200"/>
              </a:spcBef>
              <a:buFont typeface="Times New Roman" panose="02020603050405020304" pitchFamily="18" charset="0"/>
              <a:buChar char="‒"/>
            </a:pPr>
            <a:r>
              <a:rPr lang="ru-RU" dirty="0">
                <a:ea typeface="Times New Roman" panose="02020603050405020304" pitchFamily="18" charset="0"/>
              </a:rPr>
              <a:t>Отображение публикаций и выставок в профиле художника (администратор, художник);</a:t>
            </a:r>
          </a:p>
          <a:p>
            <a:pPr marL="342900" marR="180340" lvl="0" indent="-342900" algn="just">
              <a:lnSpc>
                <a:spcPct val="100000"/>
              </a:lnSpc>
              <a:spcBef>
                <a:spcPts val="200"/>
              </a:spcBef>
              <a:buFont typeface="Times New Roman" panose="02020603050405020304" pitchFamily="18" charset="0"/>
              <a:buChar char="‒"/>
            </a:pPr>
            <a:r>
              <a:rPr lang="ru-RU" dirty="0">
                <a:ea typeface="Times New Roman" panose="02020603050405020304" pitchFamily="18" charset="0"/>
              </a:rPr>
              <a:t>Публикация работ (администратор, художник);</a:t>
            </a:r>
          </a:p>
          <a:p>
            <a:pPr marL="342900" marR="180340" lvl="0" indent="-342900" algn="just">
              <a:lnSpc>
                <a:spcPct val="100000"/>
              </a:lnSpc>
              <a:spcBef>
                <a:spcPts val="200"/>
              </a:spcBef>
              <a:buFont typeface="Times New Roman" panose="02020603050405020304" pitchFamily="18" charset="0"/>
              <a:buChar char="‒"/>
            </a:pPr>
            <a:r>
              <a:rPr lang="ru-RU" dirty="0">
                <a:ea typeface="Times New Roman" panose="02020603050405020304" pitchFamily="18" charset="0"/>
              </a:rPr>
              <a:t>Создание приватных и открытых выставок и их редактирование (администратор, художник);</a:t>
            </a:r>
          </a:p>
          <a:p>
            <a:pPr marL="342900" marR="180340" lvl="0" indent="-342900" algn="just">
              <a:lnSpc>
                <a:spcPct val="100000"/>
              </a:lnSpc>
              <a:spcBef>
                <a:spcPts val="200"/>
              </a:spcBef>
              <a:buFont typeface="Times New Roman" panose="02020603050405020304" pitchFamily="18" charset="0"/>
              <a:buChar char="‒"/>
            </a:pPr>
            <a:r>
              <a:rPr lang="ru-RU" dirty="0">
                <a:ea typeface="Times New Roman" panose="02020603050405020304" pitchFamily="18" charset="0"/>
              </a:rPr>
              <a:t>Участие в публичных и приватных выставках (администратор, художник).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6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7267594" y="5819774"/>
            <a:ext cx="4785861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1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Диаграмма прецедентов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C94213-2F45-44DC-A1A3-1D3DA797F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432" y="371605"/>
            <a:ext cx="3932187" cy="544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0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11831783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Проектирование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7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737136" y="5200455"/>
            <a:ext cx="4785861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2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Диаграмма последовательностей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D6300EA-982E-4D0E-A3A6-44DD2FC5F087}"/>
              </a:ext>
            </a:extLst>
          </p:cNvPr>
          <p:cNvSpPr/>
          <p:nvPr/>
        </p:nvSpPr>
        <p:spPr>
          <a:xfrm>
            <a:off x="6684443" y="5200455"/>
            <a:ext cx="4785861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3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Диаграмма состояний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B61D40-0269-43EF-B622-931E535D7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267" y="1173710"/>
            <a:ext cx="5852214" cy="402702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6E2CC38-AF17-A8D0-C475-C48A9D72A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88" y="1173085"/>
            <a:ext cx="5086955" cy="402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5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8131403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Проектирование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8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562930" y="5266876"/>
            <a:ext cx="5301149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4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Диаграмма 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BPMN</a:t>
            </a:r>
            <a:endParaRPr lang="ru-RU" sz="1400" cap="all" spc="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D6300EA-982E-4D0E-A3A6-44DD2FC5F087}"/>
              </a:ext>
            </a:extLst>
          </p:cNvPr>
          <p:cNvSpPr/>
          <p:nvPr/>
        </p:nvSpPr>
        <p:spPr>
          <a:xfrm>
            <a:off x="5763217" y="5839325"/>
            <a:ext cx="6266931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5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Схема взаимодействия программ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C81B9D-1705-62A0-62C5-FD20474FE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00" y="1135102"/>
            <a:ext cx="5393207" cy="41317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855670-A41C-99CC-42F6-EE36B48E5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896" y="577121"/>
            <a:ext cx="3319574" cy="526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03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11831783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Реализация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9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2950569" y="5929846"/>
            <a:ext cx="6290861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6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ER-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диаграмма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7B5F4D5-3118-44F1-87CD-DDA0736F4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07" y="1173710"/>
            <a:ext cx="9964783" cy="478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47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22A0ED-71F5-D17D-CCB4-3C91BBF39440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87133-DE85-09A3-AEF3-1420133E1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105"/>
          </a:xfrm>
        </p:spPr>
        <p:txBody>
          <a:bodyPr/>
          <a:lstStyle/>
          <a:p>
            <a:pPr algn="ctr"/>
            <a:r>
              <a:rPr lang="ru-RU" dirty="0"/>
              <a:t>Реализация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D1C51EF9-87E9-B7D5-682B-945A1C5A6B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6708780"/>
              </p:ext>
            </p:extLst>
          </p:nvPr>
        </p:nvGraphicFramePr>
        <p:xfrm>
          <a:off x="1066801" y="1088708"/>
          <a:ext cx="5280211" cy="486092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712258">
                  <a:extLst>
                    <a:ext uri="{9D8B030D-6E8A-4147-A177-3AD203B41FA5}">
                      <a16:colId xmlns:a16="http://schemas.microsoft.com/office/drawing/2014/main" val="494597418"/>
                    </a:ext>
                  </a:extLst>
                </a:gridCol>
                <a:gridCol w="851647">
                  <a:extLst>
                    <a:ext uri="{9D8B030D-6E8A-4147-A177-3AD203B41FA5}">
                      <a16:colId xmlns:a16="http://schemas.microsoft.com/office/drawing/2014/main" val="1579322957"/>
                    </a:ext>
                  </a:extLst>
                </a:gridCol>
                <a:gridCol w="2716306">
                  <a:extLst>
                    <a:ext uri="{9D8B030D-6E8A-4147-A177-3AD203B41FA5}">
                      <a16:colId xmlns:a16="http://schemas.microsoft.com/office/drawing/2014/main" val="3493193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Цвет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2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Hex</a:t>
                      </a:r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код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Назначение</a:t>
                      </a:r>
                      <a:endParaRPr lang="ru-RU" sz="12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0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navigation_header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69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#B69DF8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69DF8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Цвет верхней панели навигации, статус-бара и заголовков активностей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69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600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background_primary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EAD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#EADFFF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EAD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Основной цвет фона приложения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EAD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59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accent_primary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6750A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#6750A4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6750A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Основной акцентный цвет для кнопок действий и интерактивных элементов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6750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765203"/>
                  </a:ext>
                </a:extLst>
              </a:tr>
              <a:tr h="2653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accent_inverse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D0B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#D0BCFF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D0BC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Светлый акцентный цвет для вторичных элементов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D0B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16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surface_primary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EF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#FEF7FF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EF7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Цвет поверхностей (карточки, поля ввода, нижняя навигация)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E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175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text_primary</a:t>
                      </a:r>
                      <a:endParaRPr lang="ru-RU" sz="1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1D1B2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#1D1B20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1D1B2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Основной цвет текста (заголовки, основной контент)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1D1B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72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on_secondary</a:t>
                      </a:r>
                      <a:endParaRPr lang="ru-RU" sz="1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4A44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#4A4459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4A4459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Цвет текста на вторичных поверхностях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4A44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74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on_secondary_light</a:t>
                      </a:r>
                      <a:endParaRPr lang="ru-RU" sz="12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79747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#79747E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79747E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Цвет вспомогательного текста (подзаголовки, метки, категории)</a:t>
                      </a:r>
                      <a:endParaRPr lang="ru-RU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7974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863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status_approved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#4CAF50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Зеленый цвет для одобренных публикаций и кнопок подтверждения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036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status_rejected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#F44336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Красный цвет для отклоненных публикаций и кнопок отмены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44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679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status_pending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#FFA500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Оранжевый цвет для публикаций в ожидании модерации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FFA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24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chip_background_color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#E3F2FD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ru-RU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Фон для чипов и меток категорий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41088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469100-36E3-1F3A-8E41-D92AB9E4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10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AC18E7-21FE-1489-F54E-FD357ACEA7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68" y="2218569"/>
            <a:ext cx="2601202" cy="260120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F41F1B-9643-A043-6770-5CB017E38712}"/>
              </a:ext>
            </a:extLst>
          </p:cNvPr>
          <p:cNvSpPr/>
          <p:nvPr/>
        </p:nvSpPr>
        <p:spPr>
          <a:xfrm>
            <a:off x="7850386" y="4819771"/>
            <a:ext cx="2810965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7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Логотип</a:t>
            </a:r>
          </a:p>
        </p:txBody>
      </p:sp>
    </p:spTree>
    <p:extLst>
      <p:ext uri="{BB962C8B-B14F-4D97-AF65-F5344CB8AC3E}">
        <p14:creationId xmlns:p14="http://schemas.microsoft.com/office/powerpoint/2010/main" val="259883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90CD0-F070-7ADF-4378-18B75DB2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03EAFC-2676-B199-E8EB-45C8290EE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Структура мобильного приложения: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ru-RU" dirty="0"/>
              <a:t>Локальная база данных (</a:t>
            </a:r>
            <a:r>
              <a:rPr lang="en-US" dirty="0" err="1"/>
              <a:t>AppDatabase</a:t>
            </a:r>
            <a:r>
              <a:rPr lang="en-US" dirty="0"/>
              <a:t>, DAO, Entity)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ru-RU" dirty="0"/>
              <a:t>Модели данных (</a:t>
            </a:r>
            <a:r>
              <a:rPr lang="en-US" dirty="0" err="1"/>
              <a:t>ApiResponse</a:t>
            </a:r>
            <a:r>
              <a:rPr lang="en-US" dirty="0"/>
              <a:t>, Artwork, </a:t>
            </a:r>
            <a:r>
              <a:rPr lang="en-US" dirty="0" err="1"/>
              <a:t>AuthResponse</a:t>
            </a:r>
            <a:r>
              <a:rPr lang="en-US" dirty="0"/>
              <a:t> </a:t>
            </a:r>
            <a:r>
              <a:rPr lang="ru-RU" dirty="0"/>
              <a:t>и т.д.)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ru-RU" dirty="0"/>
              <a:t>Сетевое взаимодействие (</a:t>
            </a:r>
            <a:r>
              <a:rPr lang="en-US" dirty="0" err="1"/>
              <a:t>ApiClient</a:t>
            </a:r>
            <a:r>
              <a:rPr lang="en-US" dirty="0"/>
              <a:t>, </a:t>
            </a:r>
            <a:r>
              <a:rPr lang="en-US" dirty="0" err="1"/>
              <a:t>ApiService</a:t>
            </a:r>
            <a:r>
              <a:rPr lang="en-US" dirty="0"/>
              <a:t>, </a:t>
            </a:r>
            <a:r>
              <a:rPr lang="en-US" dirty="0" err="1"/>
              <a:t>NetworkModule</a:t>
            </a:r>
            <a:r>
              <a:rPr lang="en-US" dirty="0"/>
              <a:t>)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ru-RU" dirty="0"/>
              <a:t>Репозитории (</a:t>
            </a:r>
            <a:r>
              <a:rPr lang="en-US" dirty="0" err="1"/>
              <a:t>DocumentationRepositorym</a:t>
            </a:r>
            <a:r>
              <a:rPr lang="en-US" dirty="0"/>
              <a:t> </a:t>
            </a:r>
            <a:r>
              <a:rPr lang="en-US" dirty="0" err="1"/>
              <a:t>UserRepository</a:t>
            </a:r>
            <a:r>
              <a:rPr lang="en-US" dirty="0"/>
              <a:t> </a:t>
            </a:r>
            <a:r>
              <a:rPr lang="ru-RU" dirty="0"/>
              <a:t>и т.д.)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ru-RU" dirty="0"/>
              <a:t>Сервисы (</a:t>
            </a:r>
            <a:r>
              <a:rPr lang="en-US" dirty="0" err="1"/>
              <a:t>MarkdownApiService</a:t>
            </a:r>
            <a:r>
              <a:rPr lang="en-US" dirty="0"/>
              <a:t>)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ru-RU" dirty="0"/>
              <a:t>Пользовательский интерфейс (</a:t>
            </a:r>
            <a:r>
              <a:rPr lang="en-US" dirty="0" err="1"/>
              <a:t>Activityies</a:t>
            </a:r>
            <a:r>
              <a:rPr lang="en-US" dirty="0"/>
              <a:t>, Fragments, Adapters, </a:t>
            </a:r>
            <a:r>
              <a:rPr lang="en-US" dirty="0" err="1"/>
              <a:t>ViewModels</a:t>
            </a:r>
            <a:r>
              <a:rPr lang="en-US" dirty="0"/>
              <a:t>)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ru-RU" dirty="0"/>
              <a:t>Утилиты (</a:t>
            </a:r>
            <a:r>
              <a:rPr lang="en-US" dirty="0" err="1"/>
              <a:t>ImageUtils</a:t>
            </a:r>
            <a:r>
              <a:rPr lang="en-US" dirty="0"/>
              <a:t>, </a:t>
            </a:r>
            <a:r>
              <a:rPr lang="en-US" dirty="0" err="1"/>
              <a:t>SharedPreferencesHelper</a:t>
            </a:r>
            <a:r>
              <a:rPr lang="en-US" dirty="0"/>
              <a:t> </a:t>
            </a:r>
            <a:r>
              <a:rPr lang="ru-RU" dirty="0"/>
              <a:t>и т.д.)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ru-RU" dirty="0"/>
              <a:t>Специфические компоненты </a:t>
            </a:r>
            <a:r>
              <a:rPr lang="en-US" dirty="0"/>
              <a:t>Android (layout, </a:t>
            </a:r>
            <a:r>
              <a:rPr lang="en-US" dirty="0" err="1"/>
              <a:t>build_gradle</a:t>
            </a:r>
            <a:r>
              <a:rPr lang="en-US" dirty="0"/>
              <a:t>, </a:t>
            </a:r>
            <a:r>
              <a:rPr lang="en-US" dirty="0" err="1"/>
              <a:t>AndroidManifest</a:t>
            </a:r>
            <a:r>
              <a:rPr lang="en-US" dirty="0"/>
              <a:t> </a:t>
            </a:r>
            <a:r>
              <a:rPr lang="ru-RU" dirty="0"/>
              <a:t>и т.д.)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68DA1A-6C54-4BC4-1FEF-20A94C4DC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365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11831783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Реализация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12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1599621" y="5866153"/>
            <a:ext cx="8992755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8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Диаграмма развёртывания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816203-68F2-C878-38FD-97E0B2DE8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365" y="1106884"/>
            <a:ext cx="5971270" cy="485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061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11748655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Тестирование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13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87ECBF6-4866-B365-37F8-A5DA92B8E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47" y="1336714"/>
            <a:ext cx="3892860" cy="26866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2CACE7-12FC-82D8-CBB2-17782369F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13" y="1311776"/>
            <a:ext cx="3543372" cy="383055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501261-5B66-6501-8674-AB44A6DBA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219" y="1311776"/>
            <a:ext cx="3877107" cy="3960882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680932C-EE7B-0B87-433D-1CF379F530DF}"/>
              </a:ext>
            </a:extLst>
          </p:cNvPr>
          <p:cNvSpPr/>
          <p:nvPr/>
        </p:nvSpPr>
        <p:spPr>
          <a:xfrm>
            <a:off x="720894" y="4042373"/>
            <a:ext cx="2810965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9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Детали публикации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E1F737-4226-D131-9D90-CD7C6AE8C6B4}"/>
              </a:ext>
            </a:extLst>
          </p:cNvPr>
          <p:cNvSpPr/>
          <p:nvPr/>
        </p:nvSpPr>
        <p:spPr>
          <a:xfrm>
            <a:off x="4324313" y="5139193"/>
            <a:ext cx="3543371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10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Добавление публикации из профиля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6A3F8F6-EC97-E946-1FD9-4886BFE4E6F3}"/>
              </a:ext>
            </a:extLst>
          </p:cNvPr>
          <p:cNvSpPr/>
          <p:nvPr/>
        </p:nvSpPr>
        <p:spPr>
          <a:xfrm>
            <a:off x="8093218" y="5272658"/>
            <a:ext cx="3877107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11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Редактирование профиля</a:t>
            </a:r>
          </a:p>
        </p:txBody>
      </p:sp>
    </p:spTree>
    <p:extLst>
      <p:ext uri="{BB962C8B-B14F-4D97-AF65-F5344CB8AC3E}">
        <p14:creationId xmlns:p14="http://schemas.microsoft.com/office/powerpoint/2010/main" val="120736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AEBB1-0F35-59E6-46DB-055A4A48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CA35034-1253-9E7C-C3FC-7CAAC094D3C9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9275AD3-996E-0C1E-C342-42521672C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8"/>
            <a:ext cx="12192000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Мобильное приложение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4F92DE47-B6D1-6989-6084-C2CB1F26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14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217500C-2E44-1EAD-22EF-10D673970D79}"/>
              </a:ext>
            </a:extLst>
          </p:cNvPr>
          <p:cNvSpPr/>
          <p:nvPr/>
        </p:nvSpPr>
        <p:spPr>
          <a:xfrm>
            <a:off x="221672" y="5977824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12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Авторизация и регистрация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6B14F33-D752-826C-38A0-36F59F74EBEF}"/>
              </a:ext>
            </a:extLst>
          </p:cNvPr>
          <p:cNvSpPr/>
          <p:nvPr/>
        </p:nvSpPr>
        <p:spPr>
          <a:xfrm>
            <a:off x="5924144" y="5977824"/>
            <a:ext cx="6045200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13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Главная страница</a:t>
            </a:r>
            <a:endParaRPr lang="ru-RU" sz="1400" u="sng" cap="all" spc="2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074" name="Рисунок 25">
            <a:extLst>
              <a:ext uri="{FF2B5EF4-FFF2-40B4-BE49-F238E27FC236}">
                <a16:creationId xmlns:a16="http://schemas.microsoft.com/office/drawing/2014/main" id="{1DCAFB7C-9036-2F8B-89C2-06D4E3CB3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83" y="955284"/>
            <a:ext cx="2253574" cy="502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Рисунок 26">
            <a:extLst>
              <a:ext uri="{FF2B5EF4-FFF2-40B4-BE49-F238E27FC236}">
                <a16:creationId xmlns:a16="http://schemas.microsoft.com/office/drawing/2014/main" id="{30A0CD8E-25EA-CCC3-AD3B-008E9480D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955" y="955284"/>
            <a:ext cx="2263680" cy="504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D529E34-261C-FB11-8F0A-23D3E71F9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81" y="4980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7D1B82-6893-A5D3-9752-95A5A5535D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12"/>
          <a:stretch>
            <a:fillRect/>
          </a:stretch>
        </p:blipFill>
        <p:spPr bwMode="auto">
          <a:xfrm>
            <a:off x="6341027" y="955284"/>
            <a:ext cx="2605717" cy="506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0CD78E-7553-8C1C-BA2C-4A4B3DEB0B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88"/>
          <a:stretch>
            <a:fillRect/>
          </a:stretch>
        </p:blipFill>
        <p:spPr bwMode="auto">
          <a:xfrm>
            <a:off x="9092418" y="1530326"/>
            <a:ext cx="2748412" cy="4200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1038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8"/>
            <a:ext cx="12192000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Мобильное приложение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15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221672" y="5977824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14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Отображение публикаций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3D87F7-F82B-4929-9554-21C0E1B61A61}"/>
              </a:ext>
            </a:extLst>
          </p:cNvPr>
          <p:cNvSpPr/>
          <p:nvPr/>
        </p:nvSpPr>
        <p:spPr>
          <a:xfrm>
            <a:off x="6096000" y="5995943"/>
            <a:ext cx="6045200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15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Отображение выставок</a:t>
            </a:r>
            <a:endParaRPr lang="ru-RU" sz="1400" u="sng" cap="all" spc="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C04C402-1B78-7F02-2666-9467FD05B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81" y="4980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77" name="Рисунок 28">
            <a:extLst>
              <a:ext uri="{FF2B5EF4-FFF2-40B4-BE49-F238E27FC236}">
                <a16:creationId xmlns:a16="http://schemas.microsoft.com/office/drawing/2014/main" id="{F9AEB9FC-98C7-F68D-EB89-3CA67A5CF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25" y="829893"/>
            <a:ext cx="2318370" cy="516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Рисунок 29">
            <a:extLst>
              <a:ext uri="{FF2B5EF4-FFF2-40B4-BE49-F238E27FC236}">
                <a16:creationId xmlns:a16="http://schemas.microsoft.com/office/drawing/2014/main" id="{0BE8B9AC-06B0-2D4B-42BB-A233BF40A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157" y="857681"/>
            <a:ext cx="2318370" cy="515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437104BB-CB6D-DC65-9C6C-A68B18956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80" name="Рисунок 30">
            <a:extLst>
              <a:ext uri="{FF2B5EF4-FFF2-40B4-BE49-F238E27FC236}">
                <a16:creationId xmlns:a16="http://schemas.microsoft.com/office/drawing/2014/main" id="{255BAC97-8D31-83E2-A3B7-93AA76504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032" y="857681"/>
            <a:ext cx="2318370" cy="517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Рисунок 31">
            <a:extLst>
              <a:ext uri="{FF2B5EF4-FFF2-40B4-BE49-F238E27FC236}">
                <a16:creationId xmlns:a16="http://schemas.microsoft.com/office/drawing/2014/main" id="{C24A8DAF-483A-C32E-5902-8C60E405B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764" y="829893"/>
            <a:ext cx="1934278" cy="508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A539AE-FB8D-105C-3F05-4AD710F61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643" y="5389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895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62F2B-667D-5F71-649C-3FD2A98DB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269027D-1776-05AC-43BD-5F2C4B320E01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04389E6-6860-30FC-8DCC-947B91DA6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8"/>
            <a:ext cx="12192000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Мобильное приложение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DE998637-9F4C-C09E-364B-E9289C319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16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284E709-E9AD-82E2-7C0C-AB5D13567882}"/>
              </a:ext>
            </a:extLst>
          </p:cNvPr>
          <p:cNvSpPr/>
          <p:nvPr/>
        </p:nvSpPr>
        <p:spPr>
          <a:xfrm>
            <a:off x="221672" y="5977824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16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Частичный профиль пользователя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B173DB5-5FCC-339A-820A-C35438D73ABC}"/>
              </a:ext>
            </a:extLst>
          </p:cNvPr>
          <p:cNvSpPr/>
          <p:nvPr/>
        </p:nvSpPr>
        <p:spPr>
          <a:xfrm>
            <a:off x="6096000" y="5995943"/>
            <a:ext cx="6045200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17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Настройки аккаунта</a:t>
            </a:r>
            <a:endParaRPr lang="ru-RU" sz="1400" u="sng" cap="all" spc="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F80C605-E93E-1C3A-93FE-25EAD5D78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81" y="4980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783720-A36A-FC91-26BB-2F2AEDB88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A4E2DA-B2C4-05D0-4B6C-6574C86F8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643" y="5389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122" name="Рисунок 32">
            <a:extLst>
              <a:ext uri="{FF2B5EF4-FFF2-40B4-BE49-F238E27FC236}">
                <a16:creationId xmlns:a16="http://schemas.microsoft.com/office/drawing/2014/main" id="{89EC4BBF-DCA2-FDD1-650D-88962946D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81" y="829893"/>
            <a:ext cx="2327506" cy="51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Рисунок 33">
            <a:extLst>
              <a:ext uri="{FF2B5EF4-FFF2-40B4-BE49-F238E27FC236}">
                <a16:creationId xmlns:a16="http://schemas.microsoft.com/office/drawing/2014/main" id="{50D328E3-CC19-5DDF-DED3-02606916F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092" y="785309"/>
            <a:ext cx="2318370" cy="517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D1A1610F-8A18-8278-EC90-55EAD28E6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125" name="Рисунок 34">
            <a:extLst>
              <a:ext uri="{FF2B5EF4-FFF2-40B4-BE49-F238E27FC236}">
                <a16:creationId xmlns:a16="http://schemas.microsoft.com/office/drawing/2014/main" id="{C91BA85D-5ECD-E586-12E7-728A17991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237" y="814645"/>
            <a:ext cx="2327505" cy="518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Рисунок 35">
            <a:extLst>
              <a:ext uri="{FF2B5EF4-FFF2-40B4-BE49-F238E27FC236}">
                <a16:creationId xmlns:a16="http://schemas.microsoft.com/office/drawing/2014/main" id="{81A13D99-1A68-0AAF-9F01-CFF5192B6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323" y="802884"/>
            <a:ext cx="2334314" cy="518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637D2156-FCB5-6A45-4C39-2C301C807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962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0C142-683F-9627-B146-D437714D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DBBF733-0944-B8FF-7383-A09BE598C184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FFD6A23-9829-EA05-7D66-6A1FC4133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8"/>
            <a:ext cx="12192000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Мобильное приложение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3B7E7B98-839D-7E59-5830-C60AE3FB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17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B64DDDE-32E5-39BE-E8B9-2C3F389DC9DA}"/>
              </a:ext>
            </a:extLst>
          </p:cNvPr>
          <p:cNvSpPr/>
          <p:nvPr/>
        </p:nvSpPr>
        <p:spPr>
          <a:xfrm>
            <a:off x="221672" y="5977824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18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Создание публикации и выставки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D19CCA5-F0A2-E2B2-E1BD-BCFA94C16E19}"/>
              </a:ext>
            </a:extLst>
          </p:cNvPr>
          <p:cNvSpPr/>
          <p:nvPr/>
        </p:nvSpPr>
        <p:spPr>
          <a:xfrm>
            <a:off x="6062344" y="5995943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19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Публикации из профиля и художники</a:t>
            </a:r>
            <a:endParaRPr lang="ru-RU" sz="1400" u="sng" cap="all" spc="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7C2412D-01DD-3EB8-B1EA-C564645B1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81" y="4980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A298E1-5D3E-8AD9-6D2D-693146AA3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4F637C-7BF3-9C6A-DAD8-C6AFA01F9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643" y="5389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16B06B6-4109-1626-D205-CD7CB115F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87DB01-C5D7-1A58-1A96-20F3ABCB6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EB91FC-BC20-1C51-61BE-142C5CB4BC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63" y="726683"/>
            <a:ext cx="2234889" cy="5263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4C91A1-69D5-3861-1A22-859B718762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797" y="752903"/>
            <a:ext cx="2365130" cy="5263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DDD21B9-962B-62F8-5754-56654E151F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601" y="772200"/>
            <a:ext cx="2365130" cy="5263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721D198-97A7-0478-C783-10564511E7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880" y="762000"/>
            <a:ext cx="2369650" cy="52735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6339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9D0D-5D59-E280-165B-7CF45FD3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51D27EF-E9D3-3103-BB04-1AB98029BD5E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47827D1-1D7F-333A-AB15-47DFE640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8"/>
            <a:ext cx="12192000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Документация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3F52F38C-8639-C625-3014-393E2812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18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D981497-EF91-E2E1-945E-3DAE2C4C7E39}"/>
              </a:ext>
            </a:extLst>
          </p:cNvPr>
          <p:cNvSpPr/>
          <p:nvPr/>
        </p:nvSpPr>
        <p:spPr>
          <a:xfrm>
            <a:off x="929432" y="4767246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20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 На сайте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BBBDC0A-BB1F-CC7A-6D71-E4DBFE6E051C}"/>
              </a:ext>
            </a:extLst>
          </p:cNvPr>
          <p:cNvSpPr/>
          <p:nvPr/>
        </p:nvSpPr>
        <p:spPr>
          <a:xfrm>
            <a:off x="6062344" y="5995943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Рисунок 21</a:t>
            </a:r>
            <a:r>
              <a:rPr lang="en-US" sz="1400" cap="all" spc="200" dirty="0">
                <a:solidFill>
                  <a:schemeClr val="tx2"/>
                </a:solidFill>
                <a:latin typeface="+mj-lt"/>
              </a:rPr>
              <a:t> –</a:t>
            </a: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мобильном приложении</a:t>
            </a:r>
            <a:endParaRPr lang="ru-RU" sz="1400" u="sng" cap="all" spc="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D331357-3EBE-2CA6-718C-A2982BDE1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81" y="4980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DFB35B-95D5-B942-F6F1-C27C310A2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4E3988-D6A9-3B09-D468-CFBEF63C3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643" y="5389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80B1BD-0FE0-1A0B-FF60-E17B68201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9FEA75-9C73-CE8E-89F5-C534434AC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5D6C636-2F8E-C0B0-BC19-105C9973D1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829" y="683101"/>
            <a:ext cx="2381885" cy="5293360"/>
          </a:xfrm>
          <a:prstGeom prst="rect">
            <a:avLst/>
          </a:prstGeom>
          <a:noFill/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088B56C-0077-116D-5781-5D6499A70C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50"/>
          <a:stretch>
            <a:fillRect/>
          </a:stretch>
        </p:blipFill>
        <p:spPr>
          <a:xfrm>
            <a:off x="332113" y="1632082"/>
            <a:ext cx="7211688" cy="31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7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4F458-1CF0-49FE-905E-6B0FF31F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9613DA-6F3D-42D8-B726-8DA0A59CD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/>
              <a:t>В рамках выполнения курсового проекта было реализовано мобильное приложение информационной системы «Виртуальная арт-галерея» модуля эксплуатации. Разработка данного модуля позволила создать функциональный инструмент для управления публикациями и выставками, взаимодействия с художниками и посетителями, а также просмотра данных внутри галереи.</a:t>
            </a:r>
          </a:p>
          <a:p>
            <a:r>
              <a:rPr lang="ru-RU" sz="2400" dirty="0"/>
              <a:t>Данный проект демонстрирует, что виртуальные арт-галереи становятся эффективным решением для популяризации искусства в условиях цифровизации. Разработанная система не только решает практические задачи управления контентом, но и способствует созданию уникального пользовательского опыта, что делает ее актуальной и перспективной для дальнейшего развития.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8FD6BC-CA9F-4EBF-9480-ED4B08E0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187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90B2388-0500-4ABC-87CB-0DE2CAD2DA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E85476A-5110-494D-AE13-653674FD12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15644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747</TotalTime>
  <Words>1019</Words>
  <Application>Microsoft Office PowerPoint</Application>
  <PresentationFormat>Широкоэкранный</PresentationFormat>
  <Paragraphs>182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Symbol</vt:lpstr>
      <vt:lpstr>Times New Roman</vt:lpstr>
      <vt:lpstr>Ретро</vt:lpstr>
      <vt:lpstr>Курсовой проект Разработка мобильного приложения «Виртуальная арт-галерея». Модуль эксплуатации</vt:lpstr>
      <vt:lpstr>Введение</vt:lpstr>
      <vt:lpstr>Цель и задачи</vt:lpstr>
      <vt:lpstr>Описание предметной области</vt:lpstr>
      <vt:lpstr>Обзор аналогов</vt:lpstr>
      <vt:lpstr>Проектирование</vt:lpstr>
      <vt:lpstr>Проектирование</vt:lpstr>
      <vt:lpstr>Проектирование</vt:lpstr>
      <vt:lpstr>Реализация</vt:lpstr>
      <vt:lpstr>Реализация</vt:lpstr>
      <vt:lpstr>Реализация</vt:lpstr>
      <vt:lpstr>Реализация</vt:lpstr>
      <vt:lpstr>Тестирование</vt:lpstr>
      <vt:lpstr>Мобильное приложение</vt:lpstr>
      <vt:lpstr>Мобильное приложение</vt:lpstr>
      <vt:lpstr>Мобильное приложение</vt:lpstr>
      <vt:lpstr>Мобильное приложение</vt:lpstr>
      <vt:lpstr>Документация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База данных для информационной системы «Рабочие программы кафедры».  Модуль «Рабочие программы»</dc:title>
  <dc:creator>Таисия Шутова</dc:creator>
  <cp:lastModifiedBy>1</cp:lastModifiedBy>
  <cp:revision>85</cp:revision>
  <dcterms:created xsi:type="dcterms:W3CDTF">2024-05-10T21:29:33Z</dcterms:created>
  <dcterms:modified xsi:type="dcterms:W3CDTF">2025-12-14T19:16:48Z</dcterms:modified>
</cp:coreProperties>
</file>